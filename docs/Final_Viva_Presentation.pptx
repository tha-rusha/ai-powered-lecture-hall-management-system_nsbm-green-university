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4" r:id="rId6"/>
    <p:sldId id="261" r:id="rId7"/>
    <p:sldId id="260" r:id="rId8"/>
    <p:sldId id="265" r:id="rId9"/>
    <p:sldId id="262" r:id="rId10"/>
    <p:sldId id="263" r:id="rId11"/>
    <p:sldId id="266" r:id="rId12"/>
    <p:sldId id="267" r:id="rId13"/>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Canva Sans Bold Italics" panose="020B0604020202020204" charset="0"/>
      <p:regular r:id="rId17"/>
    </p:embeddedFont>
    <p:embeddedFont>
      <p:font typeface="Canva Sans Italics" panose="020B0604020202020204" charset="0"/>
      <p:regular r:id="rId18"/>
    </p:embeddedFont>
    <p:embeddedFont>
      <p:font typeface="Cormorant Garamond Bold Italics" panose="020B0604020202020204" charset="0"/>
      <p:regular r:id="rId19"/>
    </p:embeddedFont>
    <p:embeddedFont>
      <p:font typeface="Glacial Indifference" panose="020B0604020202020204" charset="0"/>
      <p:regular r:id="rId20"/>
    </p:embeddedFont>
    <p:embeddedFont>
      <p:font typeface="Glacial Indifference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5033" autoAdjust="0"/>
  </p:normalViewPr>
  <p:slideViewPr>
    <p:cSldViewPr>
      <p:cViewPr varScale="1">
        <p:scale>
          <a:sx n="52" d="100"/>
          <a:sy n="52" d="100"/>
        </p:scale>
        <p:origin x="85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i="0" dirty="0"/>
              <a:t>Good morning all of you.</a:t>
            </a:r>
            <a:br>
              <a:rPr lang="en-US" i="0" dirty="0"/>
            </a:br>
            <a:r>
              <a:rPr lang="en-US" i="0" dirty="0"/>
              <a:t>I am </a:t>
            </a:r>
            <a:r>
              <a:rPr lang="en-US" i="0" dirty="0" err="1"/>
              <a:t>Tharusha</a:t>
            </a:r>
            <a:r>
              <a:rPr lang="en-US" i="0" dirty="0"/>
              <a:t> </a:t>
            </a:r>
            <a:r>
              <a:rPr lang="en-US" i="0" dirty="0" err="1"/>
              <a:t>Dilhara</a:t>
            </a:r>
            <a:r>
              <a:rPr lang="en-US" i="0" dirty="0"/>
              <a:t> and Today, I will be presenting my final year research project as a </a:t>
            </a:r>
            <a:r>
              <a:rPr lang="en-US" b="1" i="0" dirty="0"/>
              <a:t>Data-Driven and AI-Powered Lecture Hall Management System for Optimal Scheduling, Resource Allocation, and Future Prediction in University Operations.</a:t>
            </a:r>
            <a:endParaRPr lang="en-US" i="0"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dirty="0"/>
              <a:t>The background of my study is centered on a growing problem in faculty of computing at NSBM: with the rapid increase numbers of students, scheduling lecture halls has become more complex.</a:t>
            </a:r>
          </a:p>
          <a:p>
            <a:pPr marL="171450" indent="-171450">
              <a:buFont typeface="Arial" panose="020B0604020202020204" pitchFamily="34" charset="0"/>
              <a:buChar char="•"/>
            </a:pPr>
            <a:r>
              <a:rPr lang="en-US" dirty="0"/>
              <a:t>Currently, NSBM uses UMIS, which is rule-based. While useful, it cannot predict future demand or adapt to sudden changes, leading to inefficiencies.</a:t>
            </a:r>
          </a:p>
          <a:p>
            <a:pPr marL="171450" indent="-171450">
              <a:buFont typeface="Arial" panose="020B0604020202020204" pitchFamily="34" charset="0"/>
              <a:buChar char="•"/>
            </a:pPr>
            <a:r>
              <a:rPr lang="en-US" dirty="0"/>
              <a:t>My research aims to solve this by developing an AI-powered, data-driven scheduling system. Using technologies like time-series demand forecasting and intelligent agents, the system can predict peak times, prevent clashes, and adjust schedules in real time.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dirty="0"/>
              <a:t>The core problem is that NSBM faces inefficient scheduling, frequent conflicts, and underutilization of halls, which also increases the workload for administrators.</a:t>
            </a:r>
          </a:p>
          <a:p>
            <a:pPr marL="171450" indent="-171450">
              <a:buFont typeface="Arial" panose="020B0604020202020204" pitchFamily="34" charset="0"/>
              <a:buChar char="•"/>
            </a:pPr>
            <a:r>
              <a:rPr lang="en-US" dirty="0"/>
              <a:t>To address this, my research is driven by main key question:</a:t>
            </a:r>
            <a:br>
              <a:rPr lang="en-US" dirty="0"/>
            </a:br>
            <a:r>
              <a:rPr lang="en-US" b="1" dirty="0"/>
              <a:t>How can an AI-powered, data-driven system improve responsiveness, efficiency, and accuracy in lecture hall allocation?</a:t>
            </a:r>
            <a:endParaRPr lang="en-US" dirty="0"/>
          </a:p>
          <a:p>
            <a:pPr marL="171450" indent="-171450">
              <a:buFont typeface="Arial" panose="020B0604020202020204" pitchFamily="34" charset="0"/>
              <a:buChar char="•"/>
            </a:pPr>
            <a:r>
              <a:rPr lang="en-US" dirty="0"/>
              <a:t>This question shaped the direction of the study and the design of the proposed system.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171450" indent="-171450">
              <a:buFont typeface="Arial" panose="020B0604020202020204" pitchFamily="34" charset="0"/>
              <a:buChar char="•"/>
            </a:pPr>
            <a:r>
              <a:rPr lang="en-US" dirty="0"/>
              <a:t>My literature review confirmed these challenges. Traditional scheduling methods are mostly manual or semi-automated, and they are not scalable.</a:t>
            </a:r>
          </a:p>
          <a:p>
            <a:pPr marL="171450" indent="-171450">
              <a:buFont typeface="Arial" panose="020B0604020202020204" pitchFamily="34" charset="0"/>
              <a:buChar char="•"/>
            </a:pPr>
            <a:r>
              <a:rPr lang="en-US" dirty="0"/>
              <a:t>Predictive analytics, however, has proven to improve demand forecasting, while intelligent agents enable real-time adaptability.</a:t>
            </a:r>
          </a:p>
          <a:p>
            <a:pPr marL="171450" indent="-171450">
              <a:buFont typeface="Arial" panose="020B0604020202020204" pitchFamily="34" charset="0"/>
              <a:buChar char="•"/>
            </a:pPr>
            <a:r>
              <a:rPr lang="en-US" dirty="0"/>
              <a:t>The key finding was that UMIS lacks these predictive and adaptive features, which highlights the research gap my project aims to fill.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When I designed this system, I wanted to make sure that each research objective was not just theoretical but also connected to a real feature in the project</a:t>
            </a:r>
          </a:p>
          <a:p>
            <a:endParaRPr lang="en-US" dirty="0"/>
          </a:p>
          <a:p>
            <a:r>
              <a:rPr lang="en-US" dirty="0"/>
              <a:t>The first objective was to identify the key constraints in lecture hall scheduling. For this, the system captures details like hall capacity, location, and resources. This ensures we always know what halls are suitable for different modules.</a:t>
            </a:r>
          </a:p>
          <a:p>
            <a:r>
              <a:rPr lang="en-US" dirty="0"/>
              <a:t>Second one is objective was to analyze the existing UMIS system and highlight its gaps. That analysis guided me in deciding which features were missing and what improvements were needed.</a:t>
            </a:r>
          </a:p>
          <a:p>
            <a:r>
              <a:rPr lang="en-US" dirty="0"/>
              <a:t>third objective was to actually build an AI-powered system. Here, I used predictive analytics to forecast demand and intelligent agents to help manage scheduling conflicts.</a:t>
            </a:r>
          </a:p>
          <a:p>
            <a:r>
              <a:rPr lang="en-US" dirty="0"/>
              <a:t>Finally, to make sure everything worked in practice, I tested the system with demo data. </a:t>
            </a:r>
          </a:p>
        </p:txBody>
      </p:sp>
      <p:sp>
        <p:nvSpPr>
          <p:cNvPr id="4" name="Slide Number Placeholder 3"/>
          <p:cNvSpPr>
            <a:spLocks noGrp="1"/>
          </p:cNvSpPr>
          <p:nvPr>
            <p:ph type="sldNum" sz="quarter" idx="5"/>
          </p:nvPr>
        </p:nvSpPr>
        <p:spPr/>
        <p:txBody>
          <a:bodyPr/>
          <a:lstStyle/>
          <a:p>
            <a:fld id="{871B2431-D351-4C6E-A3CF-9DFAC0E3E050}" type="slidenum">
              <a:rPr lang="cs-CZ" smtClean="0"/>
              <a:t>5</a:t>
            </a:fld>
            <a:endParaRPr lang="cs-CZ"/>
          </a:p>
        </p:txBody>
      </p:sp>
    </p:spTree>
    <p:extLst>
      <p:ext uri="{BB962C8B-B14F-4D97-AF65-F5344CB8AC3E}">
        <p14:creationId xmlns:p14="http://schemas.microsoft.com/office/powerpoint/2010/main" val="772298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research followed the Design Science Research approach.</a:t>
            </a:r>
            <a:br>
              <a:rPr lang="en-US" dirty="0"/>
            </a:br>
            <a:r>
              <a:rPr lang="en-US" dirty="0"/>
              <a:t>This included:</a:t>
            </a:r>
            <a:br>
              <a:rPr lang="en-US" dirty="0"/>
            </a:br>
            <a:r>
              <a:rPr lang="en-US" dirty="0"/>
              <a:t>Identifying the problem, Designing and developing the system and Evaluating it through testing and feedback. I collected primary data past timetables and scheduling records. </a:t>
            </a:r>
          </a:p>
          <a:p>
            <a:endParaRPr lang="en-US" dirty="0"/>
          </a:p>
          <a:p>
            <a:r>
              <a:rPr lang="en-US" dirty="0"/>
              <a:t>In implementation:</a:t>
            </a:r>
          </a:p>
          <a:p>
            <a:r>
              <a:rPr lang="en-US" dirty="0"/>
              <a:t>The system was built using </a:t>
            </a:r>
            <a:r>
              <a:rPr lang="en-US" b="1" dirty="0"/>
              <a:t>Python with Flask</a:t>
            </a:r>
            <a:r>
              <a:rPr lang="en-US" dirty="0"/>
              <a:t> for the backend, and </a:t>
            </a:r>
            <a:r>
              <a:rPr lang="en-US" b="1" dirty="0"/>
              <a:t>HTML, CSS, and JavaScript</a:t>
            </a:r>
            <a:r>
              <a:rPr lang="en-US" dirty="0"/>
              <a:t> for the frontend. </a:t>
            </a:r>
          </a:p>
          <a:p>
            <a:r>
              <a:rPr lang="en-US" dirty="0"/>
              <a:t>The </a:t>
            </a:r>
            <a:r>
              <a:rPr lang="en-US" b="1" dirty="0"/>
              <a:t>backend</a:t>
            </a:r>
            <a:r>
              <a:rPr lang="en-US" dirty="0"/>
              <a:t> runs the predictive models and the genetic algorithm for scheduling.</a:t>
            </a:r>
          </a:p>
          <a:p>
            <a:r>
              <a:rPr lang="en-US" dirty="0"/>
              <a:t>The </a:t>
            </a:r>
            <a:r>
              <a:rPr lang="en-US" b="1" dirty="0"/>
              <a:t>frontend</a:t>
            </a:r>
            <a:r>
              <a:rPr lang="en-US" dirty="0"/>
              <a:t> provides a user-friendly interface for administrators, lecturers, and students.</a:t>
            </a:r>
            <a:br>
              <a:rPr lang="en-US" dirty="0"/>
            </a:br>
            <a:r>
              <a:rPr lang="en-US" dirty="0"/>
              <a:t>Administrators can generate and manage schedules, lecturers can view their allocated halls, and students can easily access their timetables.</a:t>
            </a:r>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6</a:t>
            </a:fld>
            <a:endParaRPr lang="cs-CZ"/>
          </a:p>
        </p:txBody>
      </p:sp>
    </p:spTree>
    <p:extLst>
      <p:ext uri="{BB962C8B-B14F-4D97-AF65-F5344CB8AC3E}">
        <p14:creationId xmlns:p14="http://schemas.microsoft.com/office/powerpoint/2010/main" val="905058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proposed solution is an </a:t>
            </a:r>
            <a:r>
              <a:rPr lang="en-US" b="1" dirty="0"/>
              <a:t>AI-powered Lecture Hall Management System</a:t>
            </a:r>
            <a:r>
              <a:rPr lang="en-US" dirty="0"/>
              <a:t> designed to make scheduling smarter and more efficient.</a:t>
            </a:r>
          </a:p>
          <a:p>
            <a:r>
              <a:rPr lang="en-US" dirty="0"/>
              <a:t>It has 3 key features:</a:t>
            </a:r>
          </a:p>
          <a:p>
            <a:r>
              <a:rPr lang="en-US" dirty="0"/>
              <a:t> </a:t>
            </a:r>
            <a:r>
              <a:rPr lang="en-US" b="1" dirty="0"/>
              <a:t>demand prediction</a:t>
            </a:r>
            <a:r>
              <a:rPr lang="en-US" dirty="0"/>
              <a:t> using time-series analysis to forecast hall usage, and </a:t>
            </a:r>
            <a:r>
              <a:rPr lang="en-US" b="1" dirty="0"/>
              <a:t>real-time adaptability</a:t>
            </a:r>
            <a:r>
              <a:rPr lang="en-US" dirty="0"/>
              <a:t> through intelligent agents that handle last-minute changes automatically. And </a:t>
            </a:r>
            <a:r>
              <a:rPr lang="en-US" sz="1200" kern="1200" dirty="0">
                <a:solidFill>
                  <a:schemeClr val="tx1"/>
                </a:solidFill>
                <a:effectLst/>
                <a:latin typeface="+mn-lt"/>
                <a:ea typeface="+mn-ea"/>
                <a:cs typeface="+mn-cs"/>
              </a:rPr>
              <a:t>Optimize schedules using Genetic Algorithms</a:t>
            </a:r>
            <a:endParaRPr lang="en-US" dirty="0"/>
          </a:p>
          <a:p>
            <a:r>
              <a:rPr lang="en-US" dirty="0"/>
              <a:t>The outcomes are reduced scheduling conflicts, better hall utilization, and improved satisfaction for administrators and lecturers.</a:t>
            </a:r>
          </a:p>
          <a:p>
            <a:r>
              <a:rPr lang="en-US" dirty="0"/>
              <a:t>In short, this solution addresses the inefficiencies of the current system by introducing predictive and adaptive intelligence.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slide shows the system design of Lecture Hall Management System. The system starts with inputs, which include both historical data and real-time demand. Historical data helps us understand past usage patterns, while real-time demand shows the current scheduling needs. These inputs are then processed by three main core components.</a:t>
            </a:r>
          </a:p>
          <a:p>
            <a:pPr marL="171450" indent="-171450">
              <a:buFont typeface="Arial" panose="020B0604020202020204" pitchFamily="34" charset="0"/>
              <a:buChar char="•"/>
            </a:pPr>
            <a:r>
              <a:rPr lang="en-US" dirty="0"/>
              <a:t>First, the Predictive Analytics Engine, which forecasts future demand and identifies peak times.</a:t>
            </a:r>
          </a:p>
          <a:p>
            <a:pPr marL="171450" indent="-171450">
              <a:buFont typeface="Arial" panose="020B0604020202020204" pitchFamily="34" charset="0"/>
              <a:buChar char="•"/>
            </a:pPr>
            <a:r>
              <a:rPr lang="en-US" dirty="0"/>
              <a:t>Second, the Genetic Algorithm Module, which generates optimized timetables by minimizing conflicts and improving resource usage.</a:t>
            </a:r>
          </a:p>
          <a:p>
            <a:pPr marL="171450" indent="-171450">
              <a:buFont typeface="Arial" panose="020B0604020202020204" pitchFamily="34" charset="0"/>
              <a:buChar char="•"/>
            </a:pPr>
            <a:r>
              <a:rPr lang="en-US" dirty="0"/>
              <a:t>And third, the Intelligent Agents, which handle tasks like real-time updates and sending alerts to users.</a:t>
            </a:r>
          </a:p>
          <a:p>
            <a:r>
              <a:rPr lang="en-US" dirty="0"/>
              <a:t>Finally, the system produces outputs, which are optimized schedules and visual reports. These outputs make it easier for administrators, lecturers, and students to clearly see hall usage and manage scheduling efficiently.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Data analysis played a key role in shaping the system. From surveys, I found that conflicts and overcrowding were common issues. From historical timetable data, I identified peak usage times, such as exam periods and semester starts. These insights were used to train the predictive model so that the system could anticipate hall demand in advance.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 results were very encouraging: The predictive model successfully forecasted hall demand trends. The genetic algorithm generated timetables that minimized conflicts and improved hall utilization. Compared to UMIS, this system provided more accuracy, and efficiency.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In conclusion, The system improves scheduling accuracy, reduces conflicts, and ensures better use of university resources.</a:t>
            </a:r>
            <a:br>
              <a:rPr lang="en-US" dirty="0"/>
            </a:br>
            <a:r>
              <a:rPr lang="en-US" dirty="0"/>
              <a:t>It also contributes to the field by providing a </a:t>
            </a:r>
            <a:r>
              <a:rPr lang="en-US" b="1" dirty="0"/>
              <a:t>scalable, AI-based framework</a:t>
            </a:r>
            <a:r>
              <a:rPr lang="en-US" dirty="0"/>
              <a:t> for academic scheduling.</a:t>
            </a:r>
            <a:br>
              <a:rPr lang="en-US" dirty="0"/>
            </a:br>
            <a:r>
              <a:rPr lang="en-US" dirty="0"/>
              <a:t>Beyond universities, the concept can be applied to other fields like corporate training centers, conference management, and hospitals.</a:t>
            </a:r>
            <a:br>
              <a:rPr lang="en-US" dirty="0"/>
            </a:br>
            <a:r>
              <a:rPr lang="en-US" dirty="0"/>
              <a:t>For future work, I recommend full real-time integration with university systems, developing a mobile app, and expanding the scope to include labs and equipment scheduling.</a:t>
            </a:r>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552658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 for your attention. Now, I would like to move on to the live demonstration of my development project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hyperlink" Target="https://www.nsbm.ac.lk/course/bsc-in-management-information-systems-special-ugc/"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22.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6.xml"/><Relationship Id="rId16" Type="http://schemas.openxmlformats.org/officeDocument/2006/relationships/image" Target="../media/image34.svg"/><Relationship Id="rId1" Type="http://schemas.openxmlformats.org/officeDocument/2006/relationships/slideLayout" Target="../slideLayouts/slideLayout7.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9.png"/><Relationship Id="rId15" Type="http://schemas.openxmlformats.org/officeDocument/2006/relationships/image" Target="../media/image33.png"/><Relationship Id="rId10" Type="http://schemas.openxmlformats.org/officeDocument/2006/relationships/image" Target="../media/image28.svg"/><Relationship Id="rId4" Type="http://schemas.openxmlformats.org/officeDocument/2006/relationships/image" Target="../media/image23.svg"/><Relationship Id="rId9" Type="http://schemas.openxmlformats.org/officeDocument/2006/relationships/image" Target="../media/image27.png"/><Relationship Id="rId14" Type="http://schemas.openxmlformats.org/officeDocument/2006/relationships/image" Target="../media/image32.svg"/></Relationships>
</file>

<file path=ppt/slides/_rels/slide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7.png"/><Relationship Id="rId7"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6.svg"/><Relationship Id="rId5" Type="http://schemas.openxmlformats.org/officeDocument/2006/relationships/image" Target="../media/image35.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45.pn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0.svg"/></Relationships>
</file>

<file path=ppt/slides/_rels/slide11.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49.pn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7.png"/><Relationship Id="rId10" Type="http://schemas.openxmlformats.org/officeDocument/2006/relationships/image" Target="../media/image55.svg"/><Relationship Id="rId4" Type="http://schemas.openxmlformats.org/officeDocument/2006/relationships/image" Target="../media/image50.svg"/><Relationship Id="rId9" Type="http://schemas.openxmlformats.org/officeDocument/2006/relationships/image" Target="../media/image54.png"/></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localhost/nsbm/index.php" TargetMode="External"/><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l="-2232" r="-2232"/>
              </a:stretch>
            </a:blipFill>
          </p:spPr>
          <p:txBody>
            <a:bodyPr/>
            <a:lstStyle/>
            <a:p>
              <a:endParaRPr lang="en-US"/>
            </a:p>
          </p:txBody>
        </p:sp>
      </p:grpSp>
      <p:sp>
        <p:nvSpPr>
          <p:cNvPr id="4" name="Freeform 4"/>
          <p:cNvSpPr/>
          <p:nvPr/>
        </p:nvSpPr>
        <p:spPr>
          <a:xfrm flipH="1">
            <a:off x="14064174" y="0"/>
            <a:ext cx="4223826" cy="3325302"/>
          </a:xfrm>
          <a:custGeom>
            <a:avLst/>
            <a:gdLst/>
            <a:ahLst/>
            <a:cxnLst/>
            <a:rect l="l" t="t" r="r" b="b"/>
            <a:pathLst>
              <a:path w="4223826" h="3325302">
                <a:moveTo>
                  <a:pt x="4223826" y="0"/>
                </a:moveTo>
                <a:lnTo>
                  <a:pt x="0" y="0"/>
                </a:lnTo>
                <a:lnTo>
                  <a:pt x="0" y="3325302"/>
                </a:lnTo>
                <a:lnTo>
                  <a:pt x="4223826" y="3325302"/>
                </a:lnTo>
                <a:lnTo>
                  <a:pt x="4223826" y="0"/>
                </a:lnTo>
                <a:close/>
              </a:path>
            </a:pathLst>
          </a:custGeom>
          <a:blipFill>
            <a:blip r:embed="rId4">
              <a:extLst>
                <a:ext uri="{96DAC541-7B7A-43D3-8B79-37D633B846F1}">
                  <asvg:svgBlip xmlns:asvg="http://schemas.microsoft.com/office/drawing/2016/SVG/main" r:embed="rId5"/>
                </a:ext>
              </a:extLst>
            </a:blip>
            <a:stretch>
              <a:fillRect t="-430" b="-430"/>
            </a:stretch>
          </a:blipFill>
        </p:spPr>
        <p:txBody>
          <a:bodyPr/>
          <a:lstStyle/>
          <a:p>
            <a:endParaRPr lang="en-US"/>
          </a:p>
        </p:txBody>
      </p:sp>
      <p:sp>
        <p:nvSpPr>
          <p:cNvPr id="5" name="Freeform 5"/>
          <p:cNvSpPr/>
          <p:nvPr/>
        </p:nvSpPr>
        <p:spPr>
          <a:xfrm flipH="1">
            <a:off x="14064174" y="6080500"/>
            <a:ext cx="4223826" cy="4223826"/>
          </a:xfrm>
          <a:custGeom>
            <a:avLst/>
            <a:gdLst/>
            <a:ahLst/>
            <a:cxnLst/>
            <a:rect l="l" t="t" r="r" b="b"/>
            <a:pathLst>
              <a:path w="4223826" h="4223826">
                <a:moveTo>
                  <a:pt x="4223826" y="0"/>
                </a:moveTo>
                <a:lnTo>
                  <a:pt x="0" y="0"/>
                </a:lnTo>
                <a:lnTo>
                  <a:pt x="0" y="4223826"/>
                </a:lnTo>
                <a:lnTo>
                  <a:pt x="4223826" y="4223826"/>
                </a:lnTo>
                <a:lnTo>
                  <a:pt x="4223826"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grpSp>
        <p:nvGrpSpPr>
          <p:cNvPr id="6" name="Group 6"/>
          <p:cNvGrpSpPr/>
          <p:nvPr/>
        </p:nvGrpSpPr>
        <p:grpSpPr>
          <a:xfrm>
            <a:off x="1889090" y="1945835"/>
            <a:ext cx="64608" cy="6670609"/>
            <a:chOff x="0" y="0"/>
            <a:chExt cx="76200" cy="7867457"/>
          </a:xfrm>
        </p:grpSpPr>
        <p:sp>
          <p:nvSpPr>
            <p:cNvPr id="7" name="Freeform 7"/>
            <p:cNvSpPr/>
            <p:nvPr/>
          </p:nvSpPr>
          <p:spPr>
            <a:xfrm>
              <a:off x="0" y="38100"/>
              <a:ext cx="76200" cy="7791196"/>
            </a:xfrm>
            <a:custGeom>
              <a:avLst/>
              <a:gdLst/>
              <a:ahLst/>
              <a:cxnLst/>
              <a:rect l="l" t="t" r="r" b="b"/>
              <a:pathLst>
                <a:path w="76200" h="7791196">
                  <a:moveTo>
                    <a:pt x="76200" y="0"/>
                  </a:moveTo>
                  <a:lnTo>
                    <a:pt x="76200" y="7791196"/>
                  </a:lnTo>
                  <a:lnTo>
                    <a:pt x="0" y="7791196"/>
                  </a:lnTo>
                  <a:lnTo>
                    <a:pt x="0" y="0"/>
                  </a:lnTo>
                  <a:close/>
                </a:path>
              </a:pathLst>
            </a:custGeom>
            <a:solidFill>
              <a:srgbClr val="18579C"/>
            </a:solidFill>
          </p:spPr>
          <p:txBody>
            <a:bodyPr/>
            <a:lstStyle/>
            <a:p>
              <a:endParaRPr lang="en-US"/>
            </a:p>
          </p:txBody>
        </p:sp>
      </p:grpSp>
      <p:grpSp>
        <p:nvGrpSpPr>
          <p:cNvPr id="8" name="Group 8"/>
          <p:cNvGrpSpPr/>
          <p:nvPr/>
        </p:nvGrpSpPr>
        <p:grpSpPr>
          <a:xfrm>
            <a:off x="2589043" y="1099562"/>
            <a:ext cx="2585043" cy="2585043"/>
            <a:chOff x="0" y="0"/>
            <a:chExt cx="3776871" cy="3776871"/>
          </a:xfrm>
        </p:grpSpPr>
        <p:sp>
          <p:nvSpPr>
            <p:cNvPr id="9" name="Freeform 9"/>
            <p:cNvSpPr/>
            <p:nvPr/>
          </p:nvSpPr>
          <p:spPr>
            <a:xfrm>
              <a:off x="0" y="0"/>
              <a:ext cx="3776853" cy="3776853"/>
            </a:xfrm>
            <a:custGeom>
              <a:avLst/>
              <a:gdLst/>
              <a:ahLst/>
              <a:cxnLst/>
              <a:rect l="l" t="t" r="r" b="b"/>
              <a:pathLst>
                <a:path w="3776853" h="3776853">
                  <a:moveTo>
                    <a:pt x="0" y="0"/>
                  </a:moveTo>
                  <a:lnTo>
                    <a:pt x="3776853" y="0"/>
                  </a:lnTo>
                  <a:lnTo>
                    <a:pt x="3776853" y="3776853"/>
                  </a:lnTo>
                  <a:lnTo>
                    <a:pt x="0" y="3776853"/>
                  </a:lnTo>
                  <a:lnTo>
                    <a:pt x="0" y="0"/>
                  </a:lnTo>
                  <a:close/>
                </a:path>
              </a:pathLst>
            </a:custGeom>
            <a:blipFill>
              <a:blip r:embed="rId8"/>
              <a:stretch>
                <a:fillRect/>
              </a:stretch>
            </a:blipFill>
          </p:spPr>
          <p:txBody>
            <a:bodyPr/>
            <a:lstStyle/>
            <a:p>
              <a:endParaRPr lang="en-US"/>
            </a:p>
          </p:txBody>
        </p:sp>
      </p:grpSp>
      <p:sp>
        <p:nvSpPr>
          <p:cNvPr id="10" name="TextBox 10"/>
          <p:cNvSpPr txBox="1"/>
          <p:nvPr/>
        </p:nvSpPr>
        <p:spPr>
          <a:xfrm>
            <a:off x="2608093" y="3264275"/>
            <a:ext cx="13737056" cy="2816225"/>
          </a:xfrm>
          <a:prstGeom prst="rect">
            <a:avLst/>
          </a:prstGeom>
        </p:spPr>
        <p:txBody>
          <a:bodyPr lIns="0" tIns="0" rIns="0" bIns="0" rtlCol="0" anchor="t">
            <a:spAutoFit/>
          </a:bodyPr>
          <a:lstStyle/>
          <a:p>
            <a:pPr algn="l">
              <a:lnSpc>
                <a:spcPts val="5499"/>
              </a:lnSpc>
            </a:pPr>
            <a:r>
              <a:rPr lang="en-US" sz="5499" b="1" i="1" dirty="0">
                <a:solidFill>
                  <a:srgbClr val="2D3880"/>
                </a:solidFill>
                <a:latin typeface="Cormorant Garamond Bold Italics"/>
                <a:ea typeface="Cormorant Garamond Bold Italics"/>
                <a:cs typeface="Cormorant Garamond Bold Italics"/>
                <a:sym typeface="Cormorant Garamond Bold Italics"/>
              </a:rPr>
              <a:t>Data-Driven and AI-Powered Lecture Hall Management System for Optimal Scheduling, Resource Allocation, and Future Prediction in University Operations</a:t>
            </a:r>
          </a:p>
        </p:txBody>
      </p:sp>
      <p:sp>
        <p:nvSpPr>
          <p:cNvPr id="11" name="TextBox 11"/>
          <p:cNvSpPr txBox="1"/>
          <p:nvPr/>
        </p:nvSpPr>
        <p:spPr>
          <a:xfrm>
            <a:off x="2617618" y="6416169"/>
            <a:ext cx="9734060" cy="2124075"/>
          </a:xfrm>
          <a:prstGeom prst="rect">
            <a:avLst/>
          </a:prstGeom>
        </p:spPr>
        <p:txBody>
          <a:bodyPr lIns="0" tIns="0" rIns="0" bIns="0" rtlCol="0" anchor="t">
            <a:spAutoFit/>
          </a:bodyPr>
          <a:lstStyle/>
          <a:p>
            <a:pPr algn="l">
              <a:lnSpc>
                <a:spcPts val="4200"/>
              </a:lnSpc>
            </a:pPr>
            <a:r>
              <a:rPr lang="en-US" sz="3000" dirty="0" err="1">
                <a:solidFill>
                  <a:srgbClr val="2D3880"/>
                </a:solidFill>
                <a:latin typeface="Glacial Indifference"/>
                <a:ea typeface="Glacial Indifference"/>
                <a:cs typeface="Glacial Indifference"/>
                <a:sym typeface="Glacial Indifference"/>
              </a:rPr>
              <a:t>E.G.T.D.Egodage</a:t>
            </a:r>
            <a:r>
              <a:rPr lang="en-US" sz="3000" dirty="0">
                <a:solidFill>
                  <a:srgbClr val="2D3880"/>
                </a:solidFill>
                <a:latin typeface="Glacial Indifference"/>
                <a:ea typeface="Glacial Indifference"/>
                <a:cs typeface="Glacial Indifference"/>
                <a:sym typeface="Glacial Indifference"/>
              </a:rPr>
              <a:t> </a:t>
            </a:r>
          </a:p>
          <a:p>
            <a:pPr algn="l">
              <a:lnSpc>
                <a:spcPts val="4200"/>
              </a:lnSpc>
            </a:pPr>
            <a:r>
              <a:rPr lang="en-US" sz="3000" dirty="0">
                <a:solidFill>
                  <a:srgbClr val="2D3880"/>
                </a:solidFill>
                <a:latin typeface="Glacial Indifference"/>
                <a:ea typeface="Glacial Indifference"/>
                <a:cs typeface="Glacial Indifference"/>
                <a:sym typeface="Glacial Indifference"/>
              </a:rPr>
              <a:t>BSc in Management Information Systems (Special)</a:t>
            </a:r>
            <a:endParaRPr lang="en-US" sz="3000" dirty="0">
              <a:solidFill>
                <a:srgbClr val="2D3880"/>
              </a:solidFill>
              <a:latin typeface="Glacial Indifference"/>
              <a:ea typeface="Glacial Indifference"/>
              <a:cs typeface="Glacial Indifference"/>
              <a:sym typeface="Glacial Indifference"/>
              <a:hlinkClick r:id="rId9" tooltip="https://www.nsbm.ac.lk/course/bsc-in-management-information-systems-special-ugc/"/>
            </a:endParaRPr>
          </a:p>
          <a:p>
            <a:pPr algn="l">
              <a:lnSpc>
                <a:spcPts val="4200"/>
              </a:lnSpc>
            </a:pPr>
            <a:r>
              <a:rPr lang="en-US" sz="3000" dirty="0">
                <a:solidFill>
                  <a:srgbClr val="2D3880"/>
                </a:solidFill>
                <a:latin typeface="Glacial Indifference"/>
                <a:ea typeface="Glacial Indifference"/>
                <a:cs typeface="Glacial Indifference"/>
                <a:sym typeface="Glacial Indifference"/>
              </a:rPr>
              <a:t>21.1 Batch</a:t>
            </a:r>
          </a:p>
          <a:p>
            <a:pPr algn="l">
              <a:lnSpc>
                <a:spcPts val="4200"/>
              </a:lnSpc>
            </a:pPr>
            <a:r>
              <a:rPr lang="en-US" sz="3000" dirty="0">
                <a:solidFill>
                  <a:srgbClr val="2D3880"/>
                </a:solidFill>
                <a:latin typeface="Glacial Indifference"/>
                <a:ea typeface="Glacial Indifference"/>
                <a:cs typeface="Glacial Indifference"/>
                <a:sym typeface="Glacial Indifference"/>
              </a:rPr>
              <a:t>Supervisor: Mr. Gayan Perera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6790042"/>
            <a:ext cx="4441864" cy="3496958"/>
          </a:xfrm>
          <a:custGeom>
            <a:avLst/>
            <a:gdLst/>
            <a:ahLst/>
            <a:cxnLst/>
            <a:rect l="l" t="t" r="r" b="b"/>
            <a:pathLst>
              <a:path w="4441864" h="3496958">
                <a:moveTo>
                  <a:pt x="0" y="3496958"/>
                </a:moveTo>
                <a:lnTo>
                  <a:pt x="4441864" y="3496958"/>
                </a:lnTo>
                <a:lnTo>
                  <a:pt x="4441864" y="0"/>
                </a:lnTo>
                <a:lnTo>
                  <a:pt x="0" y="0"/>
                </a:lnTo>
                <a:lnTo>
                  <a:pt x="0" y="3496958"/>
                </a:lnTo>
                <a:close/>
              </a:path>
            </a:pathLst>
          </a:custGeom>
          <a:blipFill>
            <a:blip r:embed="rId3">
              <a:extLst>
                <a:ext uri="{96DAC541-7B7A-43D3-8B79-37D633B846F1}">
                  <asvg:svgBlip xmlns:asvg="http://schemas.microsoft.com/office/drawing/2016/SVG/main" r:embed="rId4"/>
                </a:ext>
              </a:extLst>
            </a:blip>
            <a:stretch>
              <a:fillRect t="-575" b="-575"/>
            </a:stretch>
          </a:blipFill>
        </p:spPr>
        <p:txBody>
          <a:bodyPr/>
          <a:lstStyle/>
          <a:p>
            <a:endParaRPr lang="en-US"/>
          </a:p>
        </p:txBody>
      </p:sp>
      <p:sp>
        <p:nvSpPr>
          <p:cNvPr id="3" name="Freeform 3"/>
          <p:cNvSpPr/>
          <p:nvPr/>
        </p:nvSpPr>
        <p:spPr>
          <a:xfrm>
            <a:off x="14587794" y="0"/>
            <a:ext cx="3700206" cy="3803950"/>
          </a:xfrm>
          <a:custGeom>
            <a:avLst/>
            <a:gdLst/>
            <a:ahLst/>
            <a:cxnLst/>
            <a:rect l="l" t="t" r="r" b="b"/>
            <a:pathLst>
              <a:path w="3700206" h="3803950">
                <a:moveTo>
                  <a:pt x="0" y="0"/>
                </a:moveTo>
                <a:lnTo>
                  <a:pt x="3700206" y="0"/>
                </a:lnTo>
                <a:lnTo>
                  <a:pt x="3700206" y="3803950"/>
                </a:lnTo>
                <a:lnTo>
                  <a:pt x="0" y="3803950"/>
                </a:lnTo>
                <a:lnTo>
                  <a:pt x="0" y="0"/>
                </a:lnTo>
                <a:close/>
              </a:path>
            </a:pathLst>
          </a:custGeom>
          <a:blipFill>
            <a:blip r:embed="rId5">
              <a:extLst>
                <a:ext uri="{96DAC541-7B7A-43D3-8B79-37D633B846F1}">
                  <asvg:svgBlip xmlns:asvg="http://schemas.microsoft.com/office/drawing/2016/SVG/main" r:embed="rId6"/>
                </a:ext>
              </a:extLst>
            </a:blip>
            <a:stretch>
              <a:fillRect t="-1387" b="-1387"/>
            </a:stretch>
          </a:blipFill>
        </p:spPr>
        <p:txBody>
          <a:bodyPr/>
          <a:lstStyle/>
          <a:p>
            <a:endParaRPr lang="en-US"/>
          </a:p>
        </p:txBody>
      </p:sp>
      <p:sp>
        <p:nvSpPr>
          <p:cNvPr id="4" name="TextBox 4"/>
          <p:cNvSpPr txBox="1"/>
          <p:nvPr/>
        </p:nvSpPr>
        <p:spPr>
          <a:xfrm>
            <a:off x="1877640" y="3100878"/>
            <a:ext cx="15381660" cy="3668268"/>
          </a:xfrm>
          <a:prstGeom prst="rect">
            <a:avLst/>
          </a:prstGeom>
        </p:spPr>
        <p:txBody>
          <a:bodyPr lIns="0" tIns="0" rIns="0" bIns="0" rtlCol="0" anchor="t">
            <a:spAutoFit/>
          </a:bodyPr>
          <a:lstStyle/>
          <a:p>
            <a:pPr marL="777239" lvl="2" indent="-259080" algn="l">
              <a:lnSpc>
                <a:spcPts val="7445"/>
              </a:lnSpc>
              <a:buFont typeface="Arial"/>
              <a:buChar char="⚬"/>
            </a:pPr>
            <a:r>
              <a:rPr lang="en-US" sz="3399">
                <a:solidFill>
                  <a:srgbClr val="2D3880"/>
                </a:solidFill>
                <a:latin typeface="Glacial Indifference"/>
                <a:ea typeface="Glacial Indifference"/>
                <a:cs typeface="Glacial Indifference"/>
                <a:sym typeface="Glacial Indifference"/>
              </a:rPr>
              <a:t>Rapid growth of student population creates scheduling challenges.</a:t>
            </a:r>
          </a:p>
          <a:p>
            <a:pPr marL="777239" lvl="2" indent="-259080" algn="l">
              <a:lnSpc>
                <a:spcPts val="7445"/>
              </a:lnSpc>
              <a:buFont typeface="Arial"/>
              <a:buChar char="⚬"/>
            </a:pPr>
            <a:r>
              <a:rPr lang="en-US" sz="3399">
                <a:solidFill>
                  <a:srgbClr val="2D3880"/>
                </a:solidFill>
                <a:latin typeface="Glacial Indifference"/>
                <a:ea typeface="Glacial Indifference"/>
                <a:cs typeface="Glacial Indifference"/>
                <a:sym typeface="Glacial Indifference"/>
              </a:rPr>
              <a:t>UMIS is rule-based and lacks predictive capabilities.</a:t>
            </a:r>
          </a:p>
          <a:p>
            <a:pPr marL="777239" lvl="2" indent="-259080" algn="l">
              <a:lnSpc>
                <a:spcPts val="7445"/>
              </a:lnSpc>
              <a:buFont typeface="Arial"/>
              <a:buChar char="⚬"/>
            </a:pPr>
            <a:r>
              <a:rPr lang="en-US" sz="3399">
                <a:solidFill>
                  <a:srgbClr val="2D3880"/>
                </a:solidFill>
                <a:latin typeface="Glacial Indifference"/>
                <a:ea typeface="Glacial Indifference"/>
                <a:cs typeface="Glacial Indifference"/>
                <a:sym typeface="Glacial Indifference"/>
              </a:rPr>
              <a:t>Research aim: Build an AI-powered, data-driven scheduling system.</a:t>
            </a:r>
          </a:p>
          <a:p>
            <a:pPr marL="777239" lvl="2" indent="-259080" algn="l">
              <a:lnSpc>
                <a:spcPts val="7445"/>
              </a:lnSpc>
              <a:buFont typeface="Arial"/>
              <a:buChar char="⚬"/>
            </a:pPr>
            <a:r>
              <a:rPr lang="en-US" sz="3399">
                <a:solidFill>
                  <a:srgbClr val="2D3880"/>
                </a:solidFill>
                <a:latin typeface="Glacial Indifference"/>
                <a:ea typeface="Glacial Indifference"/>
                <a:cs typeface="Glacial Indifference"/>
                <a:sym typeface="Glacial Indifference"/>
              </a:rPr>
              <a:t>Technologies: Demand Forecasting (time‑series) + Intelligent Agent </a:t>
            </a:r>
          </a:p>
        </p:txBody>
      </p:sp>
      <p:sp>
        <p:nvSpPr>
          <p:cNvPr id="5" name="Freeform 5"/>
          <p:cNvSpPr/>
          <p:nvPr/>
        </p:nvSpPr>
        <p:spPr>
          <a:xfrm>
            <a:off x="6417790" y="2762051"/>
            <a:ext cx="5452421" cy="5452421"/>
          </a:xfrm>
          <a:custGeom>
            <a:avLst/>
            <a:gdLst/>
            <a:ahLst/>
            <a:cxnLst/>
            <a:rect l="l" t="t" r="r" b="b"/>
            <a:pathLst>
              <a:path w="5452421" h="5452421">
                <a:moveTo>
                  <a:pt x="0" y="0"/>
                </a:moveTo>
                <a:lnTo>
                  <a:pt x="5452421" y="0"/>
                </a:lnTo>
                <a:lnTo>
                  <a:pt x="5452421" y="5452421"/>
                </a:lnTo>
                <a:lnTo>
                  <a:pt x="0" y="5452421"/>
                </a:lnTo>
                <a:lnTo>
                  <a:pt x="0" y="0"/>
                </a:lnTo>
                <a:close/>
              </a:path>
            </a:pathLst>
          </a:custGeom>
          <a:blipFill>
            <a:blip r:embed="rId7">
              <a:alphaModFix amt="19999"/>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TextBox 6"/>
          <p:cNvSpPr txBox="1"/>
          <p:nvPr/>
        </p:nvSpPr>
        <p:spPr>
          <a:xfrm>
            <a:off x="2786379" y="1221890"/>
            <a:ext cx="12715243" cy="1226820"/>
          </a:xfrm>
          <a:prstGeom prst="rect">
            <a:avLst/>
          </a:prstGeom>
        </p:spPr>
        <p:txBody>
          <a:bodyPr lIns="0" tIns="0" rIns="0" bIns="0" rtlCol="0" anchor="t">
            <a:spAutoFit/>
          </a:bodyPr>
          <a:lstStyle/>
          <a:p>
            <a:pPr algn="ctr">
              <a:lnSpc>
                <a:spcPts val="10080"/>
              </a:lnSpc>
            </a:pPr>
            <a:r>
              <a:rPr lang="en-US" sz="7200" b="1" i="1">
                <a:solidFill>
                  <a:srgbClr val="2D3880"/>
                </a:solidFill>
                <a:latin typeface="Cormorant Garamond Bold Italics"/>
                <a:ea typeface="Cormorant Garamond Bold Italics"/>
                <a:cs typeface="Cormorant Garamond Bold Italics"/>
                <a:sym typeface="Cormorant Garamond Bold Italics"/>
              </a:rPr>
              <a:t>Background of the Study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0" y="6464331"/>
            <a:ext cx="3822669" cy="3822669"/>
          </a:xfrm>
          <a:custGeom>
            <a:avLst/>
            <a:gdLst/>
            <a:ahLst/>
            <a:cxnLst/>
            <a:rect l="l" t="t" r="r" b="b"/>
            <a:pathLst>
              <a:path w="3822669" h="3822669">
                <a:moveTo>
                  <a:pt x="0" y="0"/>
                </a:moveTo>
                <a:lnTo>
                  <a:pt x="3822669" y="0"/>
                </a:lnTo>
                <a:lnTo>
                  <a:pt x="3822669" y="3822669"/>
                </a:lnTo>
                <a:lnTo>
                  <a:pt x="0" y="382266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5141663" y="7415252"/>
            <a:ext cx="3146337" cy="2871748"/>
          </a:xfrm>
          <a:custGeom>
            <a:avLst/>
            <a:gdLst/>
            <a:ahLst/>
            <a:cxnLst/>
            <a:rect l="l" t="t" r="r" b="b"/>
            <a:pathLst>
              <a:path w="3146337" h="2871748">
                <a:moveTo>
                  <a:pt x="0" y="0"/>
                </a:moveTo>
                <a:lnTo>
                  <a:pt x="3146337" y="0"/>
                </a:lnTo>
                <a:lnTo>
                  <a:pt x="3146337" y="2871748"/>
                </a:lnTo>
                <a:lnTo>
                  <a:pt x="0" y="2871748"/>
                </a:lnTo>
                <a:lnTo>
                  <a:pt x="0" y="0"/>
                </a:lnTo>
                <a:close/>
              </a:path>
            </a:pathLst>
          </a:custGeom>
          <a:blipFill>
            <a:blip r:embed="rId5">
              <a:alphaModFix amt="23760"/>
              <a:extLst>
                <a:ext uri="{96DAC541-7B7A-43D3-8B79-37D633B846F1}">
                  <asvg:svgBlip xmlns:asvg="http://schemas.microsoft.com/office/drawing/2016/SVG/main" r:embed="rId6"/>
                </a:ext>
              </a:extLst>
            </a:blip>
            <a:stretch>
              <a:fillRect t="-62" b="-62"/>
            </a:stretch>
          </a:blipFill>
        </p:spPr>
        <p:txBody>
          <a:bodyPr/>
          <a:lstStyle/>
          <a:p>
            <a:endParaRPr lang="en-US"/>
          </a:p>
        </p:txBody>
      </p:sp>
      <p:sp>
        <p:nvSpPr>
          <p:cNvPr id="4" name="TextBox 4"/>
          <p:cNvSpPr txBox="1"/>
          <p:nvPr/>
        </p:nvSpPr>
        <p:spPr>
          <a:xfrm>
            <a:off x="2808485" y="473244"/>
            <a:ext cx="12671030" cy="1135380"/>
          </a:xfrm>
          <a:prstGeom prst="rect">
            <a:avLst/>
          </a:prstGeom>
        </p:spPr>
        <p:txBody>
          <a:bodyPr lIns="0" tIns="0" rIns="0" bIns="0" rtlCol="0" anchor="t">
            <a:spAutoFit/>
          </a:bodyPr>
          <a:lstStyle/>
          <a:p>
            <a:pPr algn="l">
              <a:lnSpc>
                <a:spcPts val="9000"/>
              </a:lnSpc>
            </a:pPr>
            <a:r>
              <a:rPr lang="en-US" sz="7200" b="1" i="1">
                <a:solidFill>
                  <a:srgbClr val="2D3880"/>
                </a:solidFill>
                <a:latin typeface="Cormorant Garamond Bold Italics"/>
                <a:ea typeface="Cormorant Garamond Bold Italics"/>
                <a:cs typeface="Cormorant Garamond Bold Italics"/>
                <a:sym typeface="Cormorant Garamond Bold Italics"/>
              </a:rPr>
              <a:t>Research Problem/ Research Question</a:t>
            </a:r>
          </a:p>
        </p:txBody>
      </p:sp>
      <p:grpSp>
        <p:nvGrpSpPr>
          <p:cNvPr id="5" name="Group 5"/>
          <p:cNvGrpSpPr/>
          <p:nvPr/>
        </p:nvGrpSpPr>
        <p:grpSpPr>
          <a:xfrm>
            <a:off x="2425814" y="1980813"/>
            <a:ext cx="13050821" cy="6820287"/>
            <a:chOff x="0" y="-66675"/>
            <a:chExt cx="17401095" cy="8866269"/>
          </a:xfrm>
        </p:grpSpPr>
        <p:grpSp>
          <p:nvGrpSpPr>
            <p:cNvPr id="6" name="Group 6"/>
            <p:cNvGrpSpPr/>
            <p:nvPr/>
          </p:nvGrpSpPr>
          <p:grpSpPr>
            <a:xfrm>
              <a:off x="1492565" y="922479"/>
              <a:ext cx="15218222" cy="2494077"/>
              <a:chOff x="0" y="0"/>
              <a:chExt cx="3006069" cy="492657"/>
            </a:xfrm>
          </p:grpSpPr>
          <p:sp>
            <p:nvSpPr>
              <p:cNvPr id="7" name="Freeform 7"/>
              <p:cNvSpPr/>
              <p:nvPr/>
            </p:nvSpPr>
            <p:spPr>
              <a:xfrm>
                <a:off x="0" y="0"/>
                <a:ext cx="3006069" cy="492657"/>
              </a:xfrm>
              <a:custGeom>
                <a:avLst/>
                <a:gdLst/>
                <a:ahLst/>
                <a:cxnLst/>
                <a:rect l="l" t="t" r="r" b="b"/>
                <a:pathLst>
                  <a:path w="3006069" h="492657">
                    <a:moveTo>
                      <a:pt x="34593" y="0"/>
                    </a:moveTo>
                    <a:lnTo>
                      <a:pt x="2971475" y="0"/>
                    </a:lnTo>
                    <a:cubicBezTo>
                      <a:pt x="2990581" y="0"/>
                      <a:pt x="3006069" y="15488"/>
                      <a:pt x="3006069" y="34593"/>
                    </a:cubicBezTo>
                    <a:lnTo>
                      <a:pt x="3006069" y="458064"/>
                    </a:lnTo>
                    <a:cubicBezTo>
                      <a:pt x="3006069" y="477169"/>
                      <a:pt x="2990581" y="492657"/>
                      <a:pt x="2971475" y="492657"/>
                    </a:cubicBezTo>
                    <a:lnTo>
                      <a:pt x="34593" y="492657"/>
                    </a:lnTo>
                    <a:cubicBezTo>
                      <a:pt x="25419" y="492657"/>
                      <a:pt x="16620" y="489013"/>
                      <a:pt x="10132" y="482525"/>
                    </a:cubicBezTo>
                    <a:cubicBezTo>
                      <a:pt x="3645" y="476038"/>
                      <a:pt x="0" y="467239"/>
                      <a:pt x="0" y="458064"/>
                    </a:cubicBezTo>
                    <a:lnTo>
                      <a:pt x="0" y="34593"/>
                    </a:lnTo>
                    <a:cubicBezTo>
                      <a:pt x="0" y="25419"/>
                      <a:pt x="3645" y="16620"/>
                      <a:pt x="10132" y="10132"/>
                    </a:cubicBezTo>
                    <a:cubicBezTo>
                      <a:pt x="16620" y="3645"/>
                      <a:pt x="25419" y="0"/>
                      <a:pt x="34593" y="0"/>
                    </a:cubicBezTo>
                    <a:close/>
                  </a:path>
                </a:pathLst>
              </a:custGeom>
              <a:solidFill>
                <a:srgbClr val="615EDB"/>
              </a:solidFill>
            </p:spPr>
            <p:txBody>
              <a:bodyPr/>
              <a:lstStyle/>
              <a:p>
                <a:endParaRPr lang="en-US"/>
              </a:p>
            </p:txBody>
          </p:sp>
          <p:sp>
            <p:nvSpPr>
              <p:cNvPr id="8" name="TextBox 8"/>
              <p:cNvSpPr txBox="1"/>
              <p:nvPr/>
            </p:nvSpPr>
            <p:spPr>
              <a:xfrm>
                <a:off x="0" y="-57150"/>
                <a:ext cx="3006069" cy="549807"/>
              </a:xfrm>
              <a:prstGeom prst="rect">
                <a:avLst/>
              </a:prstGeom>
            </p:spPr>
            <p:txBody>
              <a:bodyPr lIns="50800" tIns="50800" rIns="50800" bIns="50800" rtlCol="0" anchor="ctr"/>
              <a:lstStyle/>
              <a:p>
                <a:pPr algn="l">
                  <a:lnSpc>
                    <a:spcPts val="4479"/>
                  </a:lnSpc>
                  <a:spcBef>
                    <a:spcPct val="0"/>
                  </a:spcBef>
                </a:pPr>
                <a:endParaRPr/>
              </a:p>
            </p:txBody>
          </p:sp>
        </p:grpSp>
        <p:sp>
          <p:nvSpPr>
            <p:cNvPr id="9" name="TextBox 9"/>
            <p:cNvSpPr txBox="1"/>
            <p:nvPr/>
          </p:nvSpPr>
          <p:spPr>
            <a:xfrm>
              <a:off x="20795" y="-66675"/>
              <a:ext cx="7128780" cy="780038"/>
            </a:xfrm>
            <a:prstGeom prst="rect">
              <a:avLst/>
            </a:prstGeom>
          </p:spPr>
          <p:txBody>
            <a:bodyPr wrap="square" lIns="0" tIns="0" rIns="0" bIns="0" rtlCol="0" anchor="t">
              <a:spAutoFit/>
            </a:bodyPr>
            <a:lstStyle/>
            <a:p>
              <a:pPr marL="777248" lvl="1" indent="-388624" algn="ctr">
                <a:lnSpc>
                  <a:spcPts val="5040"/>
                </a:lnSpc>
                <a:buFont typeface="Arial"/>
                <a:buChar char="•"/>
              </a:pPr>
              <a:r>
                <a:rPr lang="en-US" sz="3600" b="1" i="1" dirty="0">
                  <a:solidFill>
                    <a:srgbClr val="2D3880"/>
                  </a:solidFill>
                  <a:latin typeface="Canva Sans Bold Italics"/>
                  <a:ea typeface="Canva Sans Bold Italics"/>
                  <a:cs typeface="Canva Sans Bold Italics"/>
                  <a:sym typeface="Canva Sans Bold Italics"/>
                </a:rPr>
                <a:t>Research Problems: </a:t>
              </a:r>
            </a:p>
          </p:txBody>
        </p:sp>
        <p:sp>
          <p:nvSpPr>
            <p:cNvPr id="10" name="TextBox 10"/>
            <p:cNvSpPr txBox="1"/>
            <p:nvPr/>
          </p:nvSpPr>
          <p:spPr>
            <a:xfrm>
              <a:off x="1492565" y="1213045"/>
              <a:ext cx="14976748" cy="751628"/>
            </a:xfrm>
            <a:prstGeom prst="rect">
              <a:avLst/>
            </a:prstGeom>
          </p:spPr>
          <p:txBody>
            <a:bodyPr lIns="0" tIns="0" rIns="0" bIns="0" rtlCol="0" anchor="t">
              <a:spAutoFit/>
            </a:bodyPr>
            <a:lstStyle/>
            <a:p>
              <a:pPr marL="734059" lvl="1" indent="-367030" algn="l">
                <a:lnSpc>
                  <a:spcPts val="4759"/>
                </a:lnSpc>
                <a:buFont typeface="Arial"/>
                <a:buChar char="•"/>
              </a:pPr>
              <a:r>
                <a:rPr lang="en-US" sz="3399" dirty="0">
                  <a:solidFill>
                    <a:srgbClr val="FFFFFF"/>
                  </a:solidFill>
                  <a:latin typeface="Canva Sans"/>
                  <a:ea typeface="Canva Sans"/>
                  <a:cs typeface="Canva Sans"/>
                  <a:sym typeface="Canva Sans"/>
                </a:rPr>
                <a:t>Inefficient scheduling, hall allocation &amp; conflicts. </a:t>
              </a:r>
            </a:p>
          </p:txBody>
        </p:sp>
        <p:sp>
          <p:nvSpPr>
            <p:cNvPr id="11" name="TextBox 11"/>
            <p:cNvSpPr txBox="1"/>
            <p:nvPr/>
          </p:nvSpPr>
          <p:spPr>
            <a:xfrm>
              <a:off x="1492565" y="2199803"/>
              <a:ext cx="14976748" cy="751628"/>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FFFFFF"/>
                  </a:solidFill>
                  <a:latin typeface="Canva Sans"/>
                  <a:ea typeface="Canva Sans"/>
                  <a:cs typeface="Canva Sans"/>
                  <a:sym typeface="Canva Sans"/>
                </a:rPr>
                <a:t>Lecture hall underutilization, high admin workload</a:t>
              </a:r>
            </a:p>
          </p:txBody>
        </p:sp>
        <p:sp>
          <p:nvSpPr>
            <p:cNvPr id="12" name="TextBox 12"/>
            <p:cNvSpPr txBox="1"/>
            <p:nvPr/>
          </p:nvSpPr>
          <p:spPr>
            <a:xfrm>
              <a:off x="0" y="3654681"/>
              <a:ext cx="7128781" cy="978957"/>
            </a:xfrm>
            <a:prstGeom prst="rect">
              <a:avLst/>
            </a:prstGeom>
          </p:spPr>
          <p:txBody>
            <a:bodyPr wrap="square" lIns="0" tIns="0" rIns="0" bIns="0" rtlCol="0" anchor="t">
              <a:spAutoFit/>
            </a:bodyPr>
            <a:lstStyle/>
            <a:p>
              <a:pPr marL="777248" lvl="1" indent="-388624" algn="ctr">
                <a:lnSpc>
                  <a:spcPts val="5040"/>
                </a:lnSpc>
                <a:buFont typeface="Arial"/>
                <a:buChar char="•"/>
              </a:pPr>
              <a:r>
                <a:rPr lang="en-US" sz="3600" b="1" i="1" dirty="0">
                  <a:solidFill>
                    <a:srgbClr val="2D3880"/>
                  </a:solidFill>
                  <a:latin typeface="Canva Sans Bold Italics"/>
                  <a:ea typeface="Canva Sans Bold Italics"/>
                  <a:cs typeface="Canva Sans Bold Italics"/>
                  <a:sym typeface="Canva Sans Bold Italics"/>
                </a:rPr>
                <a:t>Research Question:</a:t>
              </a:r>
            </a:p>
          </p:txBody>
        </p:sp>
        <p:grpSp>
          <p:nvGrpSpPr>
            <p:cNvPr id="13" name="Group 13"/>
            <p:cNvGrpSpPr/>
            <p:nvPr/>
          </p:nvGrpSpPr>
          <p:grpSpPr>
            <a:xfrm>
              <a:off x="1492565" y="4755135"/>
              <a:ext cx="15908530" cy="4044459"/>
              <a:chOff x="0" y="0"/>
              <a:chExt cx="3142426" cy="798905"/>
            </a:xfrm>
          </p:grpSpPr>
          <p:sp>
            <p:nvSpPr>
              <p:cNvPr id="14" name="Freeform 14"/>
              <p:cNvSpPr/>
              <p:nvPr/>
            </p:nvSpPr>
            <p:spPr>
              <a:xfrm>
                <a:off x="0" y="0"/>
                <a:ext cx="3142426" cy="798905"/>
              </a:xfrm>
              <a:custGeom>
                <a:avLst/>
                <a:gdLst/>
                <a:ahLst/>
                <a:cxnLst/>
                <a:rect l="l" t="t" r="r" b="b"/>
                <a:pathLst>
                  <a:path w="3142426" h="798905">
                    <a:moveTo>
                      <a:pt x="33092" y="0"/>
                    </a:moveTo>
                    <a:lnTo>
                      <a:pt x="3109333" y="0"/>
                    </a:lnTo>
                    <a:cubicBezTo>
                      <a:pt x="3118110" y="0"/>
                      <a:pt x="3126527" y="3487"/>
                      <a:pt x="3132733" y="9693"/>
                    </a:cubicBezTo>
                    <a:cubicBezTo>
                      <a:pt x="3138939" y="15899"/>
                      <a:pt x="3142426" y="24316"/>
                      <a:pt x="3142426" y="33092"/>
                    </a:cubicBezTo>
                    <a:lnTo>
                      <a:pt x="3142426" y="765813"/>
                    </a:lnTo>
                    <a:cubicBezTo>
                      <a:pt x="3142426" y="774590"/>
                      <a:pt x="3138939" y="783007"/>
                      <a:pt x="3132733" y="789213"/>
                    </a:cubicBezTo>
                    <a:cubicBezTo>
                      <a:pt x="3126527" y="795419"/>
                      <a:pt x="3118110" y="798905"/>
                      <a:pt x="3109333" y="798905"/>
                    </a:cubicBezTo>
                    <a:lnTo>
                      <a:pt x="33092" y="798905"/>
                    </a:lnTo>
                    <a:cubicBezTo>
                      <a:pt x="24316" y="798905"/>
                      <a:pt x="15899" y="795419"/>
                      <a:pt x="9693" y="789213"/>
                    </a:cubicBezTo>
                    <a:cubicBezTo>
                      <a:pt x="3487" y="783007"/>
                      <a:pt x="0" y="774590"/>
                      <a:pt x="0" y="765813"/>
                    </a:cubicBezTo>
                    <a:lnTo>
                      <a:pt x="0" y="33092"/>
                    </a:lnTo>
                    <a:cubicBezTo>
                      <a:pt x="0" y="24316"/>
                      <a:pt x="3487" y="15899"/>
                      <a:pt x="9693" y="9693"/>
                    </a:cubicBezTo>
                    <a:cubicBezTo>
                      <a:pt x="15899" y="3487"/>
                      <a:pt x="24316" y="0"/>
                      <a:pt x="33092" y="0"/>
                    </a:cubicBezTo>
                    <a:close/>
                  </a:path>
                </a:pathLst>
              </a:custGeom>
              <a:solidFill>
                <a:srgbClr val="615EDB"/>
              </a:solidFill>
            </p:spPr>
            <p:txBody>
              <a:bodyPr/>
              <a:lstStyle/>
              <a:p>
                <a:endParaRPr lang="en-US"/>
              </a:p>
            </p:txBody>
          </p:sp>
          <p:sp>
            <p:nvSpPr>
              <p:cNvPr id="15" name="TextBox 15"/>
              <p:cNvSpPr txBox="1"/>
              <p:nvPr/>
            </p:nvSpPr>
            <p:spPr>
              <a:xfrm>
                <a:off x="0" y="-57150"/>
                <a:ext cx="3142426" cy="856055"/>
              </a:xfrm>
              <a:prstGeom prst="rect">
                <a:avLst/>
              </a:prstGeom>
            </p:spPr>
            <p:txBody>
              <a:bodyPr lIns="50800" tIns="50800" rIns="50800" bIns="50800" rtlCol="0" anchor="ctr"/>
              <a:lstStyle/>
              <a:p>
                <a:pPr algn="l">
                  <a:lnSpc>
                    <a:spcPts val="4479"/>
                  </a:lnSpc>
                  <a:spcBef>
                    <a:spcPct val="0"/>
                  </a:spcBef>
                </a:pPr>
                <a:endParaRPr/>
              </a:p>
            </p:txBody>
          </p:sp>
        </p:grpSp>
        <p:sp>
          <p:nvSpPr>
            <p:cNvPr id="16" name="TextBox 16"/>
            <p:cNvSpPr txBox="1"/>
            <p:nvPr/>
          </p:nvSpPr>
          <p:spPr>
            <a:xfrm>
              <a:off x="2211437" y="5249196"/>
              <a:ext cx="14976748" cy="3151928"/>
            </a:xfrm>
            <a:prstGeom prst="rect">
              <a:avLst/>
            </a:prstGeom>
          </p:spPr>
          <p:txBody>
            <a:bodyPr lIns="0" tIns="0" rIns="0" bIns="0" rtlCol="0" anchor="t">
              <a:spAutoFit/>
            </a:bodyPr>
            <a:lstStyle/>
            <a:p>
              <a:pPr algn="l">
                <a:lnSpc>
                  <a:spcPts val="4759"/>
                </a:lnSpc>
              </a:pPr>
              <a:r>
                <a:rPr lang="en-US" sz="3399" i="1" dirty="0">
                  <a:solidFill>
                    <a:srgbClr val="FFFFFF"/>
                  </a:solidFill>
                  <a:latin typeface="Canva Sans Italics"/>
                  <a:ea typeface="Canva Sans Italics"/>
                  <a:cs typeface="Canva Sans Italics"/>
                  <a:sym typeface="Canva Sans Italics"/>
                </a:rPr>
                <a:t>How can a data-based and AI-powered lecture hall management system improve responsiveness, efficiency, and accuracy of resource allocation in a changing university environment? </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5181611" y="-38100"/>
            <a:ext cx="3258789" cy="2565556"/>
          </a:xfrm>
          <a:custGeom>
            <a:avLst/>
            <a:gdLst/>
            <a:ahLst/>
            <a:cxnLst/>
            <a:rect l="l" t="t" r="r" b="b"/>
            <a:pathLst>
              <a:path w="3258789" h="2565556">
                <a:moveTo>
                  <a:pt x="3258789" y="0"/>
                </a:moveTo>
                <a:lnTo>
                  <a:pt x="0" y="0"/>
                </a:lnTo>
                <a:lnTo>
                  <a:pt x="0" y="2565556"/>
                </a:lnTo>
                <a:lnTo>
                  <a:pt x="3258789" y="2565556"/>
                </a:lnTo>
                <a:lnTo>
                  <a:pt x="3258789" y="0"/>
                </a:lnTo>
                <a:close/>
              </a:path>
            </a:pathLst>
          </a:custGeom>
          <a:blipFill>
            <a:blip r:embed="rId3">
              <a:extLst>
                <a:ext uri="{96DAC541-7B7A-43D3-8B79-37D633B846F1}">
                  <asvg:svgBlip xmlns:asvg="http://schemas.microsoft.com/office/drawing/2016/SVG/main" r:embed="rId4"/>
                </a:ext>
              </a:extLst>
            </a:blip>
            <a:stretch>
              <a:fillRect t="-549" b="-549"/>
            </a:stretch>
          </a:blipFill>
        </p:spPr>
        <p:txBody>
          <a:bodyPr/>
          <a:lstStyle/>
          <a:p>
            <a:endParaRPr lang="en-US"/>
          </a:p>
        </p:txBody>
      </p:sp>
      <p:grpSp>
        <p:nvGrpSpPr>
          <p:cNvPr id="3" name="Group 3"/>
          <p:cNvGrpSpPr/>
          <p:nvPr/>
        </p:nvGrpSpPr>
        <p:grpSpPr>
          <a:xfrm>
            <a:off x="1028700" y="1691634"/>
            <a:ext cx="13688328" cy="3254254"/>
            <a:chOff x="0" y="0"/>
            <a:chExt cx="18251105" cy="4339005"/>
          </a:xfrm>
        </p:grpSpPr>
        <p:grpSp>
          <p:nvGrpSpPr>
            <p:cNvPr id="4" name="Group 4"/>
            <p:cNvGrpSpPr/>
            <p:nvPr/>
          </p:nvGrpSpPr>
          <p:grpSpPr>
            <a:xfrm>
              <a:off x="0" y="0"/>
              <a:ext cx="18251105" cy="4339005"/>
              <a:chOff x="0" y="0"/>
              <a:chExt cx="3605156" cy="857088"/>
            </a:xfrm>
          </p:grpSpPr>
          <p:sp>
            <p:nvSpPr>
              <p:cNvPr id="5" name="Freeform 5"/>
              <p:cNvSpPr/>
              <p:nvPr/>
            </p:nvSpPr>
            <p:spPr>
              <a:xfrm>
                <a:off x="0" y="0"/>
                <a:ext cx="3605156" cy="857088"/>
              </a:xfrm>
              <a:custGeom>
                <a:avLst/>
                <a:gdLst/>
                <a:ahLst/>
                <a:cxnLst/>
                <a:rect l="l" t="t" r="r" b="b"/>
                <a:pathLst>
                  <a:path w="3605156" h="857088">
                    <a:moveTo>
                      <a:pt x="28845" y="0"/>
                    </a:moveTo>
                    <a:lnTo>
                      <a:pt x="3576312" y="0"/>
                    </a:lnTo>
                    <a:cubicBezTo>
                      <a:pt x="3592242" y="0"/>
                      <a:pt x="3605156" y="12914"/>
                      <a:pt x="3605156" y="28845"/>
                    </a:cubicBezTo>
                    <a:lnTo>
                      <a:pt x="3605156" y="828243"/>
                    </a:lnTo>
                    <a:cubicBezTo>
                      <a:pt x="3605156" y="835893"/>
                      <a:pt x="3602117" y="843230"/>
                      <a:pt x="3596708" y="848639"/>
                    </a:cubicBezTo>
                    <a:cubicBezTo>
                      <a:pt x="3591298" y="854049"/>
                      <a:pt x="3583961" y="857088"/>
                      <a:pt x="3576312" y="857088"/>
                    </a:cubicBezTo>
                    <a:lnTo>
                      <a:pt x="28845" y="857088"/>
                    </a:lnTo>
                    <a:cubicBezTo>
                      <a:pt x="12914" y="857088"/>
                      <a:pt x="0" y="844173"/>
                      <a:pt x="0" y="828243"/>
                    </a:cubicBezTo>
                    <a:lnTo>
                      <a:pt x="0" y="28845"/>
                    </a:lnTo>
                    <a:cubicBezTo>
                      <a:pt x="0" y="12914"/>
                      <a:pt x="12914" y="0"/>
                      <a:pt x="28845" y="0"/>
                    </a:cubicBezTo>
                    <a:close/>
                  </a:path>
                </a:pathLst>
              </a:custGeom>
              <a:solidFill>
                <a:srgbClr val="615EDB"/>
              </a:solidFill>
            </p:spPr>
            <p:txBody>
              <a:bodyPr/>
              <a:lstStyle/>
              <a:p>
                <a:endParaRPr lang="en-US"/>
              </a:p>
            </p:txBody>
          </p:sp>
          <p:sp>
            <p:nvSpPr>
              <p:cNvPr id="6" name="TextBox 6"/>
              <p:cNvSpPr txBox="1"/>
              <p:nvPr/>
            </p:nvSpPr>
            <p:spPr>
              <a:xfrm>
                <a:off x="0" y="-38100"/>
                <a:ext cx="3605156" cy="895188"/>
              </a:xfrm>
              <a:prstGeom prst="rect">
                <a:avLst/>
              </a:prstGeom>
            </p:spPr>
            <p:txBody>
              <a:bodyPr lIns="50800" tIns="50800" rIns="50800" bIns="50800" rtlCol="0" anchor="ctr"/>
              <a:lstStyle/>
              <a:p>
                <a:pPr algn="ctr">
                  <a:lnSpc>
                    <a:spcPts val="2659"/>
                  </a:lnSpc>
                  <a:spcBef>
                    <a:spcPct val="0"/>
                  </a:spcBef>
                </a:pPr>
                <a:endParaRPr/>
              </a:p>
            </p:txBody>
          </p:sp>
        </p:grpSp>
        <p:sp>
          <p:nvSpPr>
            <p:cNvPr id="7" name="TextBox 7"/>
            <p:cNvSpPr txBox="1"/>
            <p:nvPr/>
          </p:nvSpPr>
          <p:spPr>
            <a:xfrm>
              <a:off x="0" y="351667"/>
              <a:ext cx="18176752" cy="3511846"/>
            </a:xfrm>
            <a:prstGeom prst="rect">
              <a:avLst/>
            </a:prstGeom>
          </p:spPr>
          <p:txBody>
            <a:bodyPr lIns="0" tIns="0" rIns="0" bIns="0" rtlCol="0" anchor="t">
              <a:spAutoFit/>
            </a:bodyPr>
            <a:lstStyle/>
            <a:p>
              <a:pPr marL="734059" lvl="1" indent="-367030" algn="l">
                <a:lnSpc>
                  <a:spcPts val="5371"/>
                </a:lnSpc>
                <a:buFont typeface="Arial"/>
                <a:buChar char="•"/>
              </a:pPr>
              <a:r>
                <a:rPr lang="en-US" sz="3399">
                  <a:solidFill>
                    <a:srgbClr val="FFFFFF"/>
                  </a:solidFill>
                  <a:latin typeface="Canva Sans"/>
                  <a:ea typeface="Canva Sans"/>
                  <a:cs typeface="Canva Sans"/>
                  <a:sym typeface="Canva Sans"/>
                </a:rPr>
                <a:t>Traditional scheduling: manual/semi-automated, not scalable.</a:t>
              </a:r>
            </a:p>
            <a:p>
              <a:pPr marL="734059" lvl="1" indent="-367030" algn="l">
                <a:lnSpc>
                  <a:spcPts val="5371"/>
                </a:lnSpc>
                <a:buFont typeface="Arial"/>
                <a:buChar char="•"/>
              </a:pPr>
              <a:r>
                <a:rPr lang="en-US" sz="3399">
                  <a:solidFill>
                    <a:srgbClr val="FFFFFF"/>
                  </a:solidFill>
                  <a:latin typeface="Canva Sans"/>
                  <a:ea typeface="Canva Sans"/>
                  <a:cs typeface="Canva Sans"/>
                  <a:sym typeface="Canva Sans"/>
                </a:rPr>
                <a:t>Predictive Analytics: improves demand forecasting.</a:t>
              </a:r>
            </a:p>
            <a:p>
              <a:pPr marL="734059" lvl="1" indent="-367030" algn="l">
                <a:lnSpc>
                  <a:spcPts val="5371"/>
                </a:lnSpc>
                <a:buFont typeface="Arial"/>
                <a:buChar char="•"/>
              </a:pPr>
              <a:r>
                <a:rPr lang="en-US" sz="3399">
                  <a:solidFill>
                    <a:srgbClr val="FFFFFF"/>
                  </a:solidFill>
                  <a:latin typeface="Canva Sans"/>
                  <a:ea typeface="Canva Sans"/>
                  <a:cs typeface="Canva Sans"/>
                  <a:sym typeface="Canva Sans"/>
                </a:rPr>
                <a:t>Intelligent Agents: enable real-time adaptability.</a:t>
              </a:r>
            </a:p>
            <a:p>
              <a:pPr marL="734059" lvl="1" indent="-367030" algn="l">
                <a:lnSpc>
                  <a:spcPts val="5371"/>
                </a:lnSpc>
                <a:buFont typeface="Arial"/>
                <a:buChar char="•"/>
              </a:pPr>
              <a:r>
                <a:rPr lang="en-US" sz="3399">
                  <a:solidFill>
                    <a:srgbClr val="FFFFFF"/>
                  </a:solidFill>
                  <a:latin typeface="Canva Sans"/>
                  <a:ea typeface="Canva Sans"/>
                  <a:cs typeface="Canva Sans"/>
                  <a:sym typeface="Canva Sans"/>
                </a:rPr>
                <a:t>Gap: UMIS lacks predictive and adaptive features.</a:t>
              </a:r>
            </a:p>
          </p:txBody>
        </p:sp>
      </p:grpSp>
      <p:sp>
        <p:nvSpPr>
          <p:cNvPr id="8" name="Freeform 8"/>
          <p:cNvSpPr/>
          <p:nvPr/>
        </p:nvSpPr>
        <p:spPr>
          <a:xfrm>
            <a:off x="9287815" y="5124450"/>
            <a:ext cx="8153625" cy="4892175"/>
          </a:xfrm>
          <a:custGeom>
            <a:avLst/>
            <a:gdLst/>
            <a:ahLst/>
            <a:cxnLst/>
            <a:rect l="l" t="t" r="r" b="b"/>
            <a:pathLst>
              <a:path w="8153625" h="4892175">
                <a:moveTo>
                  <a:pt x="0" y="0"/>
                </a:moveTo>
                <a:lnTo>
                  <a:pt x="8153626" y="0"/>
                </a:lnTo>
                <a:lnTo>
                  <a:pt x="8153626" y="4892175"/>
                </a:lnTo>
                <a:lnTo>
                  <a:pt x="0" y="4892175"/>
                </a:lnTo>
                <a:lnTo>
                  <a:pt x="0" y="0"/>
                </a:lnTo>
                <a:close/>
              </a:path>
            </a:pathLst>
          </a:custGeom>
          <a:blipFill>
            <a:blip r:embed="rId5"/>
            <a:stretch>
              <a:fillRect/>
            </a:stretch>
          </a:blipFill>
          <a:ln w="19050" cap="sq">
            <a:solidFill>
              <a:srgbClr val="000000"/>
            </a:solidFill>
            <a:prstDash val="solid"/>
            <a:miter/>
          </a:ln>
        </p:spPr>
        <p:txBody>
          <a:bodyPr/>
          <a:lstStyle/>
          <a:p>
            <a:endParaRPr lang="en-US"/>
          </a:p>
        </p:txBody>
      </p:sp>
      <p:sp>
        <p:nvSpPr>
          <p:cNvPr id="9" name="Freeform 9"/>
          <p:cNvSpPr/>
          <p:nvPr/>
        </p:nvSpPr>
        <p:spPr>
          <a:xfrm>
            <a:off x="2447545" y="5655953"/>
            <a:ext cx="5893394" cy="3197166"/>
          </a:xfrm>
          <a:custGeom>
            <a:avLst/>
            <a:gdLst/>
            <a:ahLst/>
            <a:cxnLst/>
            <a:rect l="l" t="t" r="r" b="b"/>
            <a:pathLst>
              <a:path w="5893394" h="3197166">
                <a:moveTo>
                  <a:pt x="0" y="0"/>
                </a:moveTo>
                <a:lnTo>
                  <a:pt x="5893394" y="0"/>
                </a:lnTo>
                <a:lnTo>
                  <a:pt x="5893394" y="3197166"/>
                </a:lnTo>
                <a:lnTo>
                  <a:pt x="0" y="319716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0" name="TextBox 10"/>
          <p:cNvSpPr txBox="1"/>
          <p:nvPr/>
        </p:nvSpPr>
        <p:spPr>
          <a:xfrm>
            <a:off x="1028700" y="348615"/>
            <a:ext cx="9668145" cy="1226820"/>
          </a:xfrm>
          <a:prstGeom prst="rect">
            <a:avLst/>
          </a:prstGeom>
        </p:spPr>
        <p:txBody>
          <a:bodyPr lIns="0" tIns="0" rIns="0" bIns="0" rtlCol="0" anchor="t">
            <a:spAutoFit/>
          </a:bodyPr>
          <a:lstStyle/>
          <a:p>
            <a:pPr algn="l">
              <a:lnSpc>
                <a:spcPts val="10080"/>
              </a:lnSpc>
            </a:pPr>
            <a:r>
              <a:rPr lang="en-US" sz="7200" b="1" i="1">
                <a:solidFill>
                  <a:srgbClr val="2D3880"/>
                </a:solidFill>
                <a:latin typeface="Cormorant Garamond Bold Italics"/>
                <a:ea typeface="Cormorant Garamond Bold Italics"/>
                <a:cs typeface="Cormorant Garamond Bold Italics"/>
                <a:sym typeface="Cormorant Garamond Bold Italics"/>
              </a:rPr>
              <a:t>Literature Review (Findings)</a:t>
            </a:r>
          </a:p>
        </p:txBody>
      </p:sp>
      <p:sp>
        <p:nvSpPr>
          <p:cNvPr id="11" name="TextBox 11"/>
          <p:cNvSpPr txBox="1"/>
          <p:nvPr/>
        </p:nvSpPr>
        <p:spPr>
          <a:xfrm>
            <a:off x="2717665" y="6922749"/>
            <a:ext cx="4857933" cy="580390"/>
          </a:xfrm>
          <a:prstGeom prst="rect">
            <a:avLst/>
          </a:prstGeom>
        </p:spPr>
        <p:txBody>
          <a:bodyPr lIns="0" tIns="0" rIns="0" bIns="0" rtlCol="0" anchor="t">
            <a:spAutoFit/>
          </a:bodyPr>
          <a:lstStyle/>
          <a:p>
            <a:pPr algn="ctr">
              <a:lnSpc>
                <a:spcPts val="4760"/>
              </a:lnSpc>
            </a:pPr>
            <a:r>
              <a:rPr lang="en-US" sz="3400" b="1">
                <a:solidFill>
                  <a:srgbClr val="FFFFFF"/>
                </a:solidFill>
                <a:latin typeface="Canva Sans Bold"/>
                <a:ea typeface="Canva Sans Bold"/>
                <a:cs typeface="Canva Sans Bold"/>
                <a:sym typeface="Canva Sans Bold"/>
              </a:rPr>
              <a:t>Problem Identification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642756" y="0"/>
            <a:ext cx="3645244" cy="3645244"/>
          </a:xfrm>
          <a:custGeom>
            <a:avLst/>
            <a:gdLst/>
            <a:ahLst/>
            <a:cxnLst/>
            <a:rect l="l" t="t" r="r" b="b"/>
            <a:pathLst>
              <a:path w="3645244" h="3645244">
                <a:moveTo>
                  <a:pt x="0" y="0"/>
                </a:moveTo>
                <a:lnTo>
                  <a:pt x="3645244" y="0"/>
                </a:lnTo>
                <a:lnTo>
                  <a:pt x="3645244" y="3645244"/>
                </a:lnTo>
                <a:lnTo>
                  <a:pt x="0" y="36452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028700" y="3268274"/>
            <a:ext cx="16419329" cy="5011014"/>
            <a:chOff x="0" y="0"/>
            <a:chExt cx="4324432" cy="1319773"/>
          </a:xfrm>
        </p:grpSpPr>
        <p:sp>
          <p:nvSpPr>
            <p:cNvPr id="4" name="Freeform 4"/>
            <p:cNvSpPr/>
            <p:nvPr/>
          </p:nvSpPr>
          <p:spPr>
            <a:xfrm>
              <a:off x="0" y="0"/>
              <a:ext cx="4324432" cy="1319773"/>
            </a:xfrm>
            <a:custGeom>
              <a:avLst/>
              <a:gdLst/>
              <a:ahLst/>
              <a:cxnLst/>
              <a:rect l="l" t="t" r="r" b="b"/>
              <a:pathLst>
                <a:path w="4324432" h="1319773">
                  <a:moveTo>
                    <a:pt x="22161" y="0"/>
                  </a:moveTo>
                  <a:lnTo>
                    <a:pt x="4302271" y="0"/>
                  </a:lnTo>
                  <a:cubicBezTo>
                    <a:pt x="4308149" y="0"/>
                    <a:pt x="4313785" y="2335"/>
                    <a:pt x="4317941" y="6491"/>
                  </a:cubicBezTo>
                  <a:cubicBezTo>
                    <a:pt x="4322097" y="10647"/>
                    <a:pt x="4324432" y="16284"/>
                    <a:pt x="4324432" y="22161"/>
                  </a:cubicBezTo>
                  <a:lnTo>
                    <a:pt x="4324432" y="1297612"/>
                  </a:lnTo>
                  <a:cubicBezTo>
                    <a:pt x="4324432" y="1309851"/>
                    <a:pt x="4314510" y="1319773"/>
                    <a:pt x="4302271" y="1319773"/>
                  </a:cubicBezTo>
                  <a:lnTo>
                    <a:pt x="22161" y="1319773"/>
                  </a:lnTo>
                  <a:cubicBezTo>
                    <a:pt x="9922" y="1319773"/>
                    <a:pt x="0" y="1309851"/>
                    <a:pt x="0" y="1297612"/>
                  </a:cubicBezTo>
                  <a:lnTo>
                    <a:pt x="0" y="22161"/>
                  </a:lnTo>
                  <a:cubicBezTo>
                    <a:pt x="0" y="9922"/>
                    <a:pt x="9922" y="0"/>
                    <a:pt x="22161" y="0"/>
                  </a:cubicBezTo>
                  <a:close/>
                </a:path>
              </a:pathLst>
            </a:custGeom>
            <a:solidFill>
              <a:srgbClr val="615EDB">
                <a:alpha val="86667"/>
              </a:srgbClr>
            </a:solidFill>
          </p:spPr>
          <p:txBody>
            <a:bodyPr/>
            <a:lstStyle/>
            <a:p>
              <a:endParaRPr lang="en-US"/>
            </a:p>
          </p:txBody>
        </p:sp>
        <p:sp>
          <p:nvSpPr>
            <p:cNvPr id="5" name="TextBox 5"/>
            <p:cNvSpPr txBox="1"/>
            <p:nvPr/>
          </p:nvSpPr>
          <p:spPr>
            <a:xfrm>
              <a:off x="0" y="-85725"/>
              <a:ext cx="4324432" cy="1405498"/>
            </a:xfrm>
            <a:prstGeom prst="rect">
              <a:avLst/>
            </a:prstGeom>
          </p:spPr>
          <p:txBody>
            <a:bodyPr lIns="50800" tIns="50800" rIns="50800" bIns="50800" rtlCol="0" anchor="ctr"/>
            <a:lstStyle/>
            <a:p>
              <a:pPr algn="ctr">
                <a:lnSpc>
                  <a:spcPts val="6299"/>
                </a:lnSpc>
              </a:pPr>
              <a:endParaRPr/>
            </a:p>
          </p:txBody>
        </p:sp>
      </p:grpSp>
      <p:sp>
        <p:nvSpPr>
          <p:cNvPr id="6" name="TextBox 6"/>
          <p:cNvSpPr txBox="1"/>
          <p:nvPr/>
        </p:nvSpPr>
        <p:spPr>
          <a:xfrm>
            <a:off x="1028700" y="3422171"/>
            <a:ext cx="16072478" cy="4335781"/>
          </a:xfrm>
          <a:prstGeom prst="rect">
            <a:avLst/>
          </a:prstGeom>
        </p:spPr>
        <p:txBody>
          <a:bodyPr lIns="0" tIns="0" rIns="0" bIns="0" rtlCol="0" anchor="t">
            <a:spAutoFit/>
          </a:bodyPr>
          <a:lstStyle/>
          <a:p>
            <a:pPr marL="755649" lvl="1" indent="-377824" algn="l">
              <a:lnSpc>
                <a:spcPts val="7034"/>
              </a:lnSpc>
              <a:buFont typeface="Arial"/>
              <a:buChar char="•"/>
            </a:pPr>
            <a:r>
              <a:rPr lang="en-US" sz="3499">
                <a:solidFill>
                  <a:srgbClr val="FFFFFF"/>
                </a:solidFill>
                <a:latin typeface="Canva Sans"/>
                <a:ea typeface="Canva Sans"/>
                <a:cs typeface="Canva Sans"/>
                <a:sym typeface="Canva Sans"/>
              </a:rPr>
              <a:t>Identify hall scheduling constraints: Captures hall capacity, location, and  resources</a:t>
            </a:r>
          </a:p>
          <a:p>
            <a:pPr marL="755649" lvl="1" indent="-377824" algn="l">
              <a:lnSpc>
                <a:spcPts val="7034"/>
              </a:lnSpc>
              <a:buFont typeface="Arial"/>
              <a:buChar char="•"/>
            </a:pPr>
            <a:r>
              <a:rPr lang="en-US" sz="3499">
                <a:solidFill>
                  <a:srgbClr val="FFFFFF"/>
                </a:solidFill>
                <a:latin typeface="Canva Sans"/>
                <a:ea typeface="Canva Sans"/>
                <a:cs typeface="Canva Sans"/>
                <a:sym typeface="Canva Sans"/>
              </a:rPr>
              <a:t>Analyze UMIS gaps: Comparative analysis documented</a:t>
            </a:r>
          </a:p>
          <a:p>
            <a:pPr marL="755649" lvl="1" indent="-377824" algn="l">
              <a:lnSpc>
                <a:spcPts val="7034"/>
              </a:lnSpc>
              <a:buFont typeface="Arial"/>
              <a:buChar char="•"/>
            </a:pPr>
            <a:r>
              <a:rPr lang="en-US" sz="3499">
                <a:solidFill>
                  <a:srgbClr val="FFFFFF"/>
                </a:solidFill>
                <a:latin typeface="Canva Sans"/>
                <a:ea typeface="Canva Sans"/>
                <a:cs typeface="Canva Sans"/>
                <a:sym typeface="Canva Sans"/>
              </a:rPr>
              <a:t>Develop AI-powered prototype: Predictive analytics + intelligent agents</a:t>
            </a:r>
          </a:p>
          <a:p>
            <a:pPr marL="755649" lvl="1" indent="-377824" algn="l">
              <a:lnSpc>
                <a:spcPts val="7034"/>
              </a:lnSpc>
              <a:buFont typeface="Arial"/>
              <a:buChar char="•"/>
            </a:pPr>
            <a:r>
              <a:rPr lang="en-US" sz="3499">
                <a:solidFill>
                  <a:srgbClr val="FFFFFF"/>
                </a:solidFill>
                <a:latin typeface="Canva Sans"/>
                <a:ea typeface="Canva Sans"/>
                <a:cs typeface="Canva Sans"/>
                <a:sym typeface="Canva Sans"/>
              </a:rPr>
              <a:t>Evaluate performance: Testing with NSBM data &amp; user feedback</a:t>
            </a:r>
          </a:p>
        </p:txBody>
      </p:sp>
      <p:grpSp>
        <p:nvGrpSpPr>
          <p:cNvPr id="7" name="Group 7"/>
          <p:cNvGrpSpPr/>
          <p:nvPr/>
        </p:nvGrpSpPr>
        <p:grpSpPr>
          <a:xfrm>
            <a:off x="2483838" y="970103"/>
            <a:ext cx="12419541" cy="1705039"/>
            <a:chOff x="0" y="0"/>
            <a:chExt cx="16559388" cy="2273385"/>
          </a:xfrm>
        </p:grpSpPr>
        <p:sp>
          <p:nvSpPr>
            <p:cNvPr id="8" name="Freeform 8"/>
            <p:cNvSpPr/>
            <p:nvPr/>
          </p:nvSpPr>
          <p:spPr>
            <a:xfrm flipH="1">
              <a:off x="0" y="0"/>
              <a:ext cx="2273385" cy="2273385"/>
            </a:xfrm>
            <a:custGeom>
              <a:avLst/>
              <a:gdLst/>
              <a:ahLst/>
              <a:cxnLst/>
              <a:rect l="l" t="t" r="r" b="b"/>
              <a:pathLst>
                <a:path w="2273385" h="2273385">
                  <a:moveTo>
                    <a:pt x="2273385" y="0"/>
                  </a:moveTo>
                  <a:lnTo>
                    <a:pt x="0" y="0"/>
                  </a:lnTo>
                  <a:lnTo>
                    <a:pt x="0" y="2273385"/>
                  </a:lnTo>
                  <a:lnTo>
                    <a:pt x="2273385" y="2273385"/>
                  </a:lnTo>
                  <a:lnTo>
                    <a:pt x="2273385" y="0"/>
                  </a:lnTo>
                  <a:close/>
                </a:path>
              </a:pathLst>
            </a:custGeom>
            <a:blipFill>
              <a:blip r:embed="rId5">
                <a:alphaModFix amt="27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9" name="TextBox 9"/>
            <p:cNvSpPr txBox="1"/>
            <p:nvPr/>
          </p:nvSpPr>
          <p:spPr>
            <a:xfrm>
              <a:off x="2641685" y="367073"/>
              <a:ext cx="13917703" cy="1501140"/>
            </a:xfrm>
            <a:prstGeom prst="rect">
              <a:avLst/>
            </a:prstGeom>
          </p:spPr>
          <p:txBody>
            <a:bodyPr lIns="0" tIns="0" rIns="0" bIns="0" rtlCol="0" anchor="t">
              <a:spAutoFit/>
            </a:bodyPr>
            <a:lstStyle/>
            <a:p>
              <a:pPr algn="l">
                <a:lnSpc>
                  <a:spcPts val="9000"/>
                </a:lnSpc>
              </a:pPr>
              <a:r>
                <a:rPr lang="en-US" sz="7200" b="1" i="1">
                  <a:solidFill>
                    <a:srgbClr val="2D3880"/>
                  </a:solidFill>
                  <a:latin typeface="Cormorant Garamond Bold Italics"/>
                  <a:ea typeface="Cormorant Garamond Bold Italics"/>
                  <a:cs typeface="Cormorant Garamond Bold Italics"/>
                  <a:sym typeface="Cormorant Garamond Bold Italics"/>
                </a:rPr>
                <a:t>Objectives Mapping to Features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7750653"/>
            <a:ext cx="5987086" cy="2536347"/>
          </a:xfrm>
          <a:custGeom>
            <a:avLst/>
            <a:gdLst/>
            <a:ahLst/>
            <a:cxnLst/>
            <a:rect l="l" t="t" r="r" b="b"/>
            <a:pathLst>
              <a:path w="5987086" h="2536347">
                <a:moveTo>
                  <a:pt x="0" y="0"/>
                </a:moveTo>
                <a:lnTo>
                  <a:pt x="5987086" y="0"/>
                </a:lnTo>
                <a:lnTo>
                  <a:pt x="5987086" y="2536347"/>
                </a:lnTo>
                <a:lnTo>
                  <a:pt x="0" y="253634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4587794" y="-9525"/>
            <a:ext cx="3700206" cy="3803950"/>
          </a:xfrm>
          <a:custGeom>
            <a:avLst/>
            <a:gdLst/>
            <a:ahLst/>
            <a:cxnLst/>
            <a:rect l="l" t="t" r="r" b="b"/>
            <a:pathLst>
              <a:path w="3700206" h="3803950">
                <a:moveTo>
                  <a:pt x="0" y="0"/>
                </a:moveTo>
                <a:lnTo>
                  <a:pt x="3700206" y="0"/>
                </a:lnTo>
                <a:lnTo>
                  <a:pt x="3700206" y="3803950"/>
                </a:lnTo>
                <a:lnTo>
                  <a:pt x="0" y="380395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3676700" y="2254151"/>
            <a:ext cx="3046289" cy="3356792"/>
          </a:xfrm>
          <a:custGeom>
            <a:avLst/>
            <a:gdLst/>
            <a:ahLst/>
            <a:cxnLst/>
            <a:rect l="l" t="t" r="r" b="b"/>
            <a:pathLst>
              <a:path w="3046289" h="3356792">
                <a:moveTo>
                  <a:pt x="0" y="0"/>
                </a:moveTo>
                <a:lnTo>
                  <a:pt x="3046289" y="0"/>
                </a:lnTo>
                <a:lnTo>
                  <a:pt x="3046289" y="3356793"/>
                </a:lnTo>
                <a:lnTo>
                  <a:pt x="0" y="3356793"/>
                </a:lnTo>
                <a:lnTo>
                  <a:pt x="0" y="0"/>
                </a:lnTo>
                <a:close/>
              </a:path>
            </a:pathLst>
          </a:custGeom>
          <a:blipFill>
            <a:blip r:embed="rId7">
              <a:alphaModFix amt="28000"/>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5" name="Group 5"/>
          <p:cNvGrpSpPr/>
          <p:nvPr/>
        </p:nvGrpSpPr>
        <p:grpSpPr>
          <a:xfrm>
            <a:off x="4903759" y="5913032"/>
            <a:ext cx="11506429" cy="1424974"/>
            <a:chOff x="0" y="-1272"/>
            <a:chExt cx="15341905" cy="1899966"/>
          </a:xfrm>
        </p:grpSpPr>
        <p:sp>
          <p:nvSpPr>
            <p:cNvPr id="6" name="Freeform 6"/>
            <p:cNvSpPr/>
            <p:nvPr/>
          </p:nvSpPr>
          <p:spPr>
            <a:xfrm>
              <a:off x="0" y="0"/>
              <a:ext cx="1898694" cy="1898694"/>
            </a:xfrm>
            <a:custGeom>
              <a:avLst/>
              <a:gdLst/>
              <a:ahLst/>
              <a:cxnLst/>
              <a:rect l="l" t="t" r="r" b="b"/>
              <a:pathLst>
                <a:path w="1898694" h="1898694">
                  <a:moveTo>
                    <a:pt x="0" y="0"/>
                  </a:moveTo>
                  <a:lnTo>
                    <a:pt x="1898694" y="0"/>
                  </a:lnTo>
                  <a:lnTo>
                    <a:pt x="1898694" y="1898694"/>
                  </a:lnTo>
                  <a:lnTo>
                    <a:pt x="0" y="189869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7" name="TextBox 7"/>
            <p:cNvSpPr txBox="1"/>
            <p:nvPr/>
          </p:nvSpPr>
          <p:spPr>
            <a:xfrm>
              <a:off x="2275844" y="-1272"/>
              <a:ext cx="13066061" cy="878416"/>
            </a:xfrm>
            <a:prstGeom prst="rect">
              <a:avLst/>
            </a:prstGeom>
          </p:spPr>
          <p:txBody>
            <a:bodyPr lIns="0" tIns="0" rIns="0" bIns="0" rtlCol="0" anchor="t">
              <a:spAutoFit/>
            </a:bodyPr>
            <a:lstStyle/>
            <a:p>
              <a:pPr algn="l">
                <a:lnSpc>
                  <a:spcPts val="5950"/>
                </a:lnSpc>
              </a:pPr>
              <a:r>
                <a:rPr lang="en-US" sz="3500" b="1" dirty="0">
                  <a:solidFill>
                    <a:srgbClr val="2D3880"/>
                  </a:solidFill>
                  <a:latin typeface="Glacial Indifference Bold"/>
                  <a:ea typeface="Glacial Indifference Bold"/>
                  <a:cs typeface="Glacial Indifference Bold"/>
                  <a:sym typeface="Glacial Indifference Bold"/>
                </a:rPr>
                <a:t>Data Analysis:</a:t>
              </a:r>
              <a:r>
                <a:rPr lang="en-US" sz="3500" dirty="0">
                  <a:solidFill>
                    <a:srgbClr val="2D3880"/>
                  </a:solidFill>
                  <a:latin typeface="Glacial Indifference"/>
                  <a:ea typeface="Glacial Indifference"/>
                  <a:cs typeface="Glacial Indifference"/>
                  <a:sym typeface="Glacial Indifference"/>
                </a:rPr>
                <a:t> Python, Excel, Predictive modeling</a:t>
              </a:r>
            </a:p>
          </p:txBody>
        </p:sp>
      </p:grpSp>
      <p:grpSp>
        <p:nvGrpSpPr>
          <p:cNvPr id="8" name="Group 8"/>
          <p:cNvGrpSpPr/>
          <p:nvPr/>
        </p:nvGrpSpPr>
        <p:grpSpPr>
          <a:xfrm>
            <a:off x="3810000" y="4307229"/>
            <a:ext cx="10129393" cy="1286489"/>
            <a:chOff x="0" y="0"/>
            <a:chExt cx="13505857" cy="1715318"/>
          </a:xfrm>
        </p:grpSpPr>
        <p:sp>
          <p:nvSpPr>
            <p:cNvPr id="9" name="Freeform 9"/>
            <p:cNvSpPr/>
            <p:nvPr/>
          </p:nvSpPr>
          <p:spPr>
            <a:xfrm>
              <a:off x="0" y="0"/>
              <a:ext cx="1590958" cy="1715318"/>
            </a:xfrm>
            <a:custGeom>
              <a:avLst/>
              <a:gdLst/>
              <a:ahLst/>
              <a:cxnLst/>
              <a:rect l="l" t="t" r="r" b="b"/>
              <a:pathLst>
                <a:path w="1590958" h="1715318">
                  <a:moveTo>
                    <a:pt x="0" y="0"/>
                  </a:moveTo>
                  <a:lnTo>
                    <a:pt x="1590958" y="0"/>
                  </a:lnTo>
                  <a:lnTo>
                    <a:pt x="1590958" y="1715318"/>
                  </a:lnTo>
                  <a:lnTo>
                    <a:pt x="0" y="171531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US"/>
            </a:p>
          </p:txBody>
        </p:sp>
        <p:sp>
          <p:nvSpPr>
            <p:cNvPr id="10" name="TextBox 10"/>
            <p:cNvSpPr txBox="1"/>
            <p:nvPr/>
          </p:nvSpPr>
          <p:spPr>
            <a:xfrm>
              <a:off x="2090532" y="8723"/>
              <a:ext cx="11415325" cy="878416"/>
            </a:xfrm>
            <a:prstGeom prst="rect">
              <a:avLst/>
            </a:prstGeom>
          </p:spPr>
          <p:txBody>
            <a:bodyPr lIns="0" tIns="0" rIns="0" bIns="0" rtlCol="0" anchor="t">
              <a:spAutoFit/>
            </a:bodyPr>
            <a:lstStyle/>
            <a:p>
              <a:pPr algn="l">
                <a:lnSpc>
                  <a:spcPts val="5950"/>
                </a:lnSpc>
              </a:pPr>
              <a:r>
                <a:rPr lang="en-US" sz="3500" b="1" dirty="0">
                  <a:solidFill>
                    <a:srgbClr val="2D3880"/>
                  </a:solidFill>
                  <a:latin typeface="Glacial Indifference Bold"/>
                  <a:ea typeface="Glacial Indifference Bold"/>
                  <a:cs typeface="Glacial Indifference Bold"/>
                  <a:sym typeface="Glacial Indifference Bold"/>
                </a:rPr>
                <a:t>Data Collection:</a:t>
              </a:r>
              <a:r>
                <a:rPr lang="en-US" sz="3500" dirty="0">
                  <a:solidFill>
                    <a:srgbClr val="2D3880"/>
                  </a:solidFill>
                  <a:latin typeface="Glacial Indifference"/>
                  <a:ea typeface="Glacial Indifference"/>
                  <a:cs typeface="Glacial Indifference"/>
                  <a:sym typeface="Glacial Indifference"/>
                </a:rPr>
                <a:t> Historical timetables</a:t>
              </a:r>
            </a:p>
          </p:txBody>
        </p:sp>
      </p:grpSp>
      <p:grpSp>
        <p:nvGrpSpPr>
          <p:cNvPr id="11" name="Group 11"/>
          <p:cNvGrpSpPr/>
          <p:nvPr/>
        </p:nvGrpSpPr>
        <p:grpSpPr>
          <a:xfrm>
            <a:off x="2111097" y="2713555"/>
            <a:ext cx="9194627" cy="1248950"/>
            <a:chOff x="0" y="-107727"/>
            <a:chExt cx="12259503" cy="1665267"/>
          </a:xfrm>
        </p:grpSpPr>
        <p:sp>
          <p:nvSpPr>
            <p:cNvPr id="12" name="Freeform 12"/>
            <p:cNvSpPr/>
            <p:nvPr/>
          </p:nvSpPr>
          <p:spPr>
            <a:xfrm>
              <a:off x="0" y="0"/>
              <a:ext cx="1557540" cy="1557540"/>
            </a:xfrm>
            <a:custGeom>
              <a:avLst/>
              <a:gdLst/>
              <a:ahLst/>
              <a:cxnLst/>
              <a:rect l="l" t="t" r="r" b="b"/>
              <a:pathLst>
                <a:path w="1557540" h="1557540">
                  <a:moveTo>
                    <a:pt x="0" y="0"/>
                  </a:moveTo>
                  <a:lnTo>
                    <a:pt x="1557540" y="0"/>
                  </a:lnTo>
                  <a:lnTo>
                    <a:pt x="1557540" y="1557540"/>
                  </a:lnTo>
                  <a:lnTo>
                    <a:pt x="0" y="1557540"/>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US"/>
            </a:p>
          </p:txBody>
        </p:sp>
        <p:sp>
          <p:nvSpPr>
            <p:cNvPr id="13" name="TextBox 13"/>
            <p:cNvSpPr txBox="1"/>
            <p:nvPr/>
          </p:nvSpPr>
          <p:spPr>
            <a:xfrm>
              <a:off x="2092017" y="-107727"/>
              <a:ext cx="10167486" cy="878417"/>
            </a:xfrm>
            <a:prstGeom prst="rect">
              <a:avLst/>
            </a:prstGeom>
          </p:spPr>
          <p:txBody>
            <a:bodyPr lIns="0" tIns="0" rIns="0" bIns="0" rtlCol="0" anchor="t">
              <a:spAutoFit/>
            </a:bodyPr>
            <a:lstStyle/>
            <a:p>
              <a:pPr algn="l">
                <a:lnSpc>
                  <a:spcPts val="5949"/>
                </a:lnSpc>
              </a:pPr>
              <a:r>
                <a:rPr lang="en-US" sz="3499" b="1" dirty="0">
                  <a:solidFill>
                    <a:srgbClr val="2D3880"/>
                  </a:solidFill>
                  <a:latin typeface="Glacial Indifference Bold"/>
                  <a:ea typeface="Glacial Indifference Bold"/>
                  <a:cs typeface="Glacial Indifference Bold"/>
                  <a:sym typeface="Glacial Indifference Bold"/>
                </a:rPr>
                <a:t>Approach:</a:t>
              </a:r>
              <a:r>
                <a:rPr lang="en-US" sz="3499" dirty="0">
                  <a:solidFill>
                    <a:srgbClr val="2D3880"/>
                  </a:solidFill>
                  <a:latin typeface="Glacial Indifference"/>
                  <a:ea typeface="Glacial Indifference"/>
                  <a:cs typeface="Glacial Indifference"/>
                  <a:sym typeface="Glacial Indifference"/>
                </a:rPr>
                <a:t> Design Science Research</a:t>
              </a:r>
            </a:p>
          </p:txBody>
        </p:sp>
      </p:grpSp>
      <p:sp>
        <p:nvSpPr>
          <p:cNvPr id="14" name="Freeform 14"/>
          <p:cNvSpPr/>
          <p:nvPr/>
        </p:nvSpPr>
        <p:spPr>
          <a:xfrm>
            <a:off x="6350563" y="7692972"/>
            <a:ext cx="1460816" cy="1148566"/>
          </a:xfrm>
          <a:custGeom>
            <a:avLst/>
            <a:gdLst/>
            <a:ahLst/>
            <a:cxnLst/>
            <a:rect l="l" t="t" r="r" b="b"/>
            <a:pathLst>
              <a:path w="1460816" h="1148566">
                <a:moveTo>
                  <a:pt x="0" y="0"/>
                </a:moveTo>
                <a:lnTo>
                  <a:pt x="1460816" y="0"/>
                </a:lnTo>
                <a:lnTo>
                  <a:pt x="1460816" y="1148567"/>
                </a:lnTo>
                <a:lnTo>
                  <a:pt x="0" y="114856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lstStyle/>
          <a:p>
            <a:endParaRPr lang="en-US"/>
          </a:p>
        </p:txBody>
      </p:sp>
      <p:sp>
        <p:nvSpPr>
          <p:cNvPr id="15" name="TextBox 15"/>
          <p:cNvSpPr txBox="1"/>
          <p:nvPr/>
        </p:nvSpPr>
        <p:spPr>
          <a:xfrm>
            <a:off x="8174856" y="7564676"/>
            <a:ext cx="9592374" cy="1454150"/>
          </a:xfrm>
          <a:prstGeom prst="rect">
            <a:avLst/>
          </a:prstGeom>
        </p:spPr>
        <p:txBody>
          <a:bodyPr lIns="0" tIns="0" rIns="0" bIns="0" rtlCol="0" anchor="t">
            <a:spAutoFit/>
          </a:bodyPr>
          <a:lstStyle/>
          <a:p>
            <a:pPr algn="l">
              <a:lnSpc>
                <a:spcPts val="5950"/>
              </a:lnSpc>
            </a:pPr>
            <a:r>
              <a:rPr lang="en-US" sz="3500" b="1" dirty="0">
                <a:solidFill>
                  <a:srgbClr val="2D3880"/>
                </a:solidFill>
                <a:latin typeface="Glacial Indifference Bold"/>
                <a:ea typeface="Glacial Indifference Bold"/>
                <a:cs typeface="Glacial Indifference Bold"/>
                <a:sym typeface="Glacial Indifference Bold"/>
              </a:rPr>
              <a:t>Implementation:</a:t>
            </a:r>
            <a:r>
              <a:rPr lang="en-US" sz="3500" dirty="0">
                <a:solidFill>
                  <a:srgbClr val="2D3880"/>
                </a:solidFill>
                <a:latin typeface="Glacial Indifference"/>
                <a:ea typeface="Glacial Indifference"/>
                <a:cs typeface="Glacial Indifference"/>
                <a:sym typeface="Glacial Indifference"/>
              </a:rPr>
              <a:t> HTML/CSS/JS frontend, and Python/Flask backend</a:t>
            </a:r>
          </a:p>
        </p:txBody>
      </p:sp>
      <p:sp>
        <p:nvSpPr>
          <p:cNvPr id="16" name="TextBox 16"/>
          <p:cNvSpPr txBox="1"/>
          <p:nvPr/>
        </p:nvSpPr>
        <p:spPr>
          <a:xfrm>
            <a:off x="4743041" y="895350"/>
            <a:ext cx="7504350" cy="1226820"/>
          </a:xfrm>
          <a:prstGeom prst="rect">
            <a:avLst/>
          </a:prstGeom>
        </p:spPr>
        <p:txBody>
          <a:bodyPr lIns="0" tIns="0" rIns="0" bIns="0" rtlCol="0" anchor="t">
            <a:spAutoFit/>
          </a:bodyPr>
          <a:lstStyle/>
          <a:p>
            <a:pPr marL="0" lvl="0" indent="0" algn="l">
              <a:lnSpc>
                <a:spcPts val="10080"/>
              </a:lnSpc>
              <a:spcBef>
                <a:spcPct val="0"/>
              </a:spcBef>
            </a:pPr>
            <a:r>
              <a:rPr lang="en-US" sz="7200" b="1" i="1">
                <a:solidFill>
                  <a:srgbClr val="2D3880"/>
                </a:solidFill>
                <a:latin typeface="Cormorant Garamond Bold Italics"/>
                <a:ea typeface="Cormorant Garamond Bold Italics"/>
                <a:cs typeface="Cormorant Garamond Bold Italics"/>
                <a:sym typeface="Cormorant Garamond Bold Italics"/>
              </a:rPr>
              <a:t>Research Methodology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3809790" y="0"/>
            <a:ext cx="4478210" cy="3525572"/>
          </a:xfrm>
          <a:custGeom>
            <a:avLst/>
            <a:gdLst/>
            <a:ahLst/>
            <a:cxnLst/>
            <a:rect l="l" t="t" r="r" b="b"/>
            <a:pathLst>
              <a:path w="4478210" h="3525572">
                <a:moveTo>
                  <a:pt x="4478210" y="0"/>
                </a:moveTo>
                <a:lnTo>
                  <a:pt x="0" y="0"/>
                </a:lnTo>
                <a:lnTo>
                  <a:pt x="0" y="3525572"/>
                </a:lnTo>
                <a:lnTo>
                  <a:pt x="4478210" y="3525572"/>
                </a:lnTo>
                <a:lnTo>
                  <a:pt x="4478210" y="0"/>
                </a:lnTo>
                <a:close/>
              </a:path>
            </a:pathLst>
          </a:custGeom>
          <a:blipFill>
            <a:blip r:embed="rId3">
              <a:extLst>
                <a:ext uri="{96DAC541-7B7A-43D3-8B79-37D633B846F1}">
                  <asvg:svgBlip xmlns:asvg="http://schemas.microsoft.com/office/drawing/2016/SVG/main" r:embed="rId4"/>
                </a:ext>
              </a:extLst>
            </a:blip>
            <a:stretch>
              <a:fillRect t="-430" b="-430"/>
            </a:stretch>
          </a:blipFill>
        </p:spPr>
        <p:txBody>
          <a:bodyPr/>
          <a:lstStyle/>
          <a:p>
            <a:endParaRPr lang="en-US"/>
          </a:p>
        </p:txBody>
      </p:sp>
      <p:grpSp>
        <p:nvGrpSpPr>
          <p:cNvPr id="3" name="Group 3"/>
          <p:cNvGrpSpPr/>
          <p:nvPr/>
        </p:nvGrpSpPr>
        <p:grpSpPr>
          <a:xfrm>
            <a:off x="3762244" y="2690267"/>
            <a:ext cx="11047805" cy="4906465"/>
            <a:chOff x="0" y="0"/>
            <a:chExt cx="14730406" cy="6541953"/>
          </a:xfrm>
        </p:grpSpPr>
        <p:grpSp>
          <p:nvGrpSpPr>
            <p:cNvPr id="4" name="Group 4"/>
            <p:cNvGrpSpPr/>
            <p:nvPr/>
          </p:nvGrpSpPr>
          <p:grpSpPr>
            <a:xfrm>
              <a:off x="0" y="0"/>
              <a:ext cx="14711510" cy="937768"/>
              <a:chOff x="0" y="0"/>
              <a:chExt cx="6308283" cy="402114"/>
            </a:xfrm>
          </p:grpSpPr>
          <p:sp>
            <p:nvSpPr>
              <p:cNvPr id="5" name="Freeform 5"/>
              <p:cNvSpPr/>
              <p:nvPr/>
            </p:nvSpPr>
            <p:spPr>
              <a:xfrm>
                <a:off x="0" y="0"/>
                <a:ext cx="6308284" cy="402114"/>
              </a:xfrm>
              <a:custGeom>
                <a:avLst/>
                <a:gdLst/>
                <a:ahLst/>
                <a:cxnLst/>
                <a:rect l="l" t="t" r="r" b="b"/>
                <a:pathLst>
                  <a:path w="6308284" h="402114">
                    <a:moveTo>
                      <a:pt x="6105084" y="0"/>
                    </a:moveTo>
                    <a:cubicBezTo>
                      <a:pt x="6217308" y="0"/>
                      <a:pt x="6308284" y="90016"/>
                      <a:pt x="6308284" y="201057"/>
                    </a:cubicBezTo>
                    <a:cubicBezTo>
                      <a:pt x="6308284" y="312098"/>
                      <a:pt x="6217308" y="402114"/>
                      <a:pt x="6105084" y="402114"/>
                    </a:cubicBezTo>
                    <a:lnTo>
                      <a:pt x="203200" y="402114"/>
                    </a:lnTo>
                    <a:cubicBezTo>
                      <a:pt x="90976" y="402114"/>
                      <a:pt x="0" y="312098"/>
                      <a:pt x="0" y="201057"/>
                    </a:cubicBezTo>
                    <a:cubicBezTo>
                      <a:pt x="0" y="90016"/>
                      <a:pt x="90976" y="0"/>
                      <a:pt x="203200" y="0"/>
                    </a:cubicBezTo>
                    <a:close/>
                  </a:path>
                </a:pathLst>
              </a:custGeom>
              <a:solidFill>
                <a:srgbClr val="615EDB"/>
              </a:solidFill>
            </p:spPr>
            <p:txBody>
              <a:bodyPr/>
              <a:lstStyle/>
              <a:p>
                <a:endParaRPr lang="en-US"/>
              </a:p>
            </p:txBody>
          </p:sp>
          <p:sp>
            <p:nvSpPr>
              <p:cNvPr id="6" name="TextBox 6"/>
              <p:cNvSpPr txBox="1"/>
              <p:nvPr/>
            </p:nvSpPr>
            <p:spPr>
              <a:xfrm>
                <a:off x="0" y="-66675"/>
                <a:ext cx="6308283" cy="468789"/>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AI-powered Lecture Hall Management System</a:t>
                </a:r>
              </a:p>
            </p:txBody>
          </p:sp>
        </p:grpSp>
        <p:grpSp>
          <p:nvGrpSpPr>
            <p:cNvPr id="7" name="Group 7"/>
            <p:cNvGrpSpPr/>
            <p:nvPr/>
          </p:nvGrpSpPr>
          <p:grpSpPr>
            <a:xfrm>
              <a:off x="0" y="1529269"/>
              <a:ext cx="14711510" cy="937768"/>
              <a:chOff x="0" y="0"/>
              <a:chExt cx="6308283" cy="402114"/>
            </a:xfrm>
          </p:grpSpPr>
          <p:sp>
            <p:nvSpPr>
              <p:cNvPr id="8" name="Freeform 8"/>
              <p:cNvSpPr/>
              <p:nvPr/>
            </p:nvSpPr>
            <p:spPr>
              <a:xfrm>
                <a:off x="0" y="0"/>
                <a:ext cx="6308284" cy="402114"/>
              </a:xfrm>
              <a:custGeom>
                <a:avLst/>
                <a:gdLst/>
                <a:ahLst/>
                <a:cxnLst/>
                <a:rect l="l" t="t" r="r" b="b"/>
                <a:pathLst>
                  <a:path w="6308284" h="402114">
                    <a:moveTo>
                      <a:pt x="6105084" y="0"/>
                    </a:moveTo>
                    <a:cubicBezTo>
                      <a:pt x="6217308" y="0"/>
                      <a:pt x="6308284" y="90016"/>
                      <a:pt x="6308284" y="201057"/>
                    </a:cubicBezTo>
                    <a:cubicBezTo>
                      <a:pt x="6308284" y="312098"/>
                      <a:pt x="6217308" y="402114"/>
                      <a:pt x="6105084" y="402114"/>
                    </a:cubicBezTo>
                    <a:lnTo>
                      <a:pt x="203200" y="402114"/>
                    </a:lnTo>
                    <a:cubicBezTo>
                      <a:pt x="90976" y="402114"/>
                      <a:pt x="0" y="312098"/>
                      <a:pt x="0" y="201057"/>
                    </a:cubicBezTo>
                    <a:cubicBezTo>
                      <a:pt x="0" y="90016"/>
                      <a:pt x="90976" y="0"/>
                      <a:pt x="203200" y="0"/>
                    </a:cubicBezTo>
                    <a:close/>
                  </a:path>
                </a:pathLst>
              </a:custGeom>
              <a:solidFill>
                <a:srgbClr val="615EDB"/>
              </a:solidFill>
            </p:spPr>
            <p:txBody>
              <a:bodyPr/>
              <a:lstStyle/>
              <a:p>
                <a:endParaRPr lang="en-US"/>
              </a:p>
            </p:txBody>
          </p:sp>
          <p:sp>
            <p:nvSpPr>
              <p:cNvPr id="9" name="TextBox 9"/>
              <p:cNvSpPr txBox="1"/>
              <p:nvPr/>
            </p:nvSpPr>
            <p:spPr>
              <a:xfrm>
                <a:off x="0" y="-66675"/>
                <a:ext cx="6308283" cy="468789"/>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Predict demand with time-series analysis</a:t>
                </a:r>
              </a:p>
            </p:txBody>
          </p:sp>
        </p:grpSp>
        <p:grpSp>
          <p:nvGrpSpPr>
            <p:cNvPr id="10" name="Group 10"/>
            <p:cNvGrpSpPr/>
            <p:nvPr/>
          </p:nvGrpSpPr>
          <p:grpSpPr>
            <a:xfrm>
              <a:off x="18897" y="3063937"/>
              <a:ext cx="14711510" cy="1117848"/>
              <a:chOff x="0" y="0"/>
              <a:chExt cx="6308283" cy="479332"/>
            </a:xfrm>
          </p:grpSpPr>
          <p:sp>
            <p:nvSpPr>
              <p:cNvPr id="11" name="Freeform 11"/>
              <p:cNvSpPr/>
              <p:nvPr/>
            </p:nvSpPr>
            <p:spPr>
              <a:xfrm>
                <a:off x="0" y="0"/>
                <a:ext cx="6308284" cy="479332"/>
              </a:xfrm>
              <a:custGeom>
                <a:avLst/>
                <a:gdLst/>
                <a:ahLst/>
                <a:cxnLst/>
                <a:rect l="l" t="t" r="r" b="b"/>
                <a:pathLst>
                  <a:path w="6308284" h="479332">
                    <a:moveTo>
                      <a:pt x="6105084" y="0"/>
                    </a:moveTo>
                    <a:cubicBezTo>
                      <a:pt x="6217308" y="0"/>
                      <a:pt x="6308284" y="107302"/>
                      <a:pt x="6308284" y="239666"/>
                    </a:cubicBezTo>
                    <a:cubicBezTo>
                      <a:pt x="6308284" y="372030"/>
                      <a:pt x="6217308" y="479332"/>
                      <a:pt x="6105084" y="479332"/>
                    </a:cubicBezTo>
                    <a:lnTo>
                      <a:pt x="203200" y="479332"/>
                    </a:lnTo>
                    <a:cubicBezTo>
                      <a:pt x="90976" y="479332"/>
                      <a:pt x="0" y="372030"/>
                      <a:pt x="0" y="239666"/>
                    </a:cubicBezTo>
                    <a:cubicBezTo>
                      <a:pt x="0" y="107302"/>
                      <a:pt x="90976" y="0"/>
                      <a:pt x="203200" y="0"/>
                    </a:cubicBezTo>
                    <a:close/>
                  </a:path>
                </a:pathLst>
              </a:custGeom>
              <a:solidFill>
                <a:srgbClr val="615EDB"/>
              </a:solidFill>
            </p:spPr>
            <p:txBody>
              <a:bodyPr/>
              <a:lstStyle/>
              <a:p>
                <a:endParaRPr lang="en-US"/>
              </a:p>
            </p:txBody>
          </p:sp>
          <p:sp>
            <p:nvSpPr>
              <p:cNvPr id="12" name="TextBox 12"/>
              <p:cNvSpPr txBox="1"/>
              <p:nvPr/>
            </p:nvSpPr>
            <p:spPr>
              <a:xfrm>
                <a:off x="0" y="-66675"/>
                <a:ext cx="6308283" cy="546007"/>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Provide real-time adaptability with intelligent agents</a:t>
                </a:r>
              </a:p>
            </p:txBody>
          </p:sp>
        </p:grpSp>
        <p:grpSp>
          <p:nvGrpSpPr>
            <p:cNvPr id="13" name="Group 13"/>
            <p:cNvGrpSpPr/>
            <p:nvPr/>
          </p:nvGrpSpPr>
          <p:grpSpPr>
            <a:xfrm>
              <a:off x="0" y="4778685"/>
              <a:ext cx="14711510" cy="1763268"/>
              <a:chOff x="0" y="0"/>
              <a:chExt cx="6308283" cy="756088"/>
            </a:xfrm>
          </p:grpSpPr>
          <p:sp>
            <p:nvSpPr>
              <p:cNvPr id="14" name="Freeform 14"/>
              <p:cNvSpPr/>
              <p:nvPr/>
            </p:nvSpPr>
            <p:spPr>
              <a:xfrm>
                <a:off x="0" y="0"/>
                <a:ext cx="6308284" cy="756088"/>
              </a:xfrm>
              <a:custGeom>
                <a:avLst/>
                <a:gdLst/>
                <a:ahLst/>
                <a:cxnLst/>
                <a:rect l="l" t="t" r="r" b="b"/>
                <a:pathLst>
                  <a:path w="6308284" h="756088">
                    <a:moveTo>
                      <a:pt x="6105084" y="0"/>
                    </a:moveTo>
                    <a:cubicBezTo>
                      <a:pt x="6217308" y="0"/>
                      <a:pt x="6308284" y="169256"/>
                      <a:pt x="6308284" y="378044"/>
                    </a:cubicBezTo>
                    <a:cubicBezTo>
                      <a:pt x="6308284" y="586832"/>
                      <a:pt x="6217308" y="756088"/>
                      <a:pt x="6105084" y="756088"/>
                    </a:cubicBezTo>
                    <a:lnTo>
                      <a:pt x="203200" y="756088"/>
                    </a:lnTo>
                    <a:cubicBezTo>
                      <a:pt x="90976" y="756088"/>
                      <a:pt x="0" y="586832"/>
                      <a:pt x="0" y="378044"/>
                    </a:cubicBezTo>
                    <a:cubicBezTo>
                      <a:pt x="0" y="169256"/>
                      <a:pt x="90976" y="0"/>
                      <a:pt x="203200" y="0"/>
                    </a:cubicBezTo>
                    <a:close/>
                  </a:path>
                </a:pathLst>
              </a:custGeom>
              <a:solidFill>
                <a:srgbClr val="39B449"/>
              </a:solidFill>
            </p:spPr>
            <p:txBody>
              <a:bodyPr/>
              <a:lstStyle/>
              <a:p>
                <a:endParaRPr lang="en-US"/>
              </a:p>
            </p:txBody>
          </p:sp>
          <p:sp>
            <p:nvSpPr>
              <p:cNvPr id="15" name="TextBox 15"/>
              <p:cNvSpPr txBox="1"/>
              <p:nvPr/>
            </p:nvSpPr>
            <p:spPr>
              <a:xfrm>
                <a:off x="0" y="-66675"/>
                <a:ext cx="6308283" cy="822763"/>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Outcome: Reduce conflicts, maximize hall usage, enhance satisfaction</a:t>
                </a:r>
              </a:p>
            </p:txBody>
          </p:sp>
        </p:grpSp>
      </p:grpSp>
      <p:sp>
        <p:nvSpPr>
          <p:cNvPr id="16" name="Freeform 16"/>
          <p:cNvSpPr/>
          <p:nvPr/>
        </p:nvSpPr>
        <p:spPr>
          <a:xfrm flipV="1">
            <a:off x="0" y="7325088"/>
            <a:ext cx="3762244" cy="2961912"/>
          </a:xfrm>
          <a:custGeom>
            <a:avLst/>
            <a:gdLst/>
            <a:ahLst/>
            <a:cxnLst/>
            <a:rect l="l" t="t" r="r" b="b"/>
            <a:pathLst>
              <a:path w="3762244" h="2961912">
                <a:moveTo>
                  <a:pt x="0" y="2961912"/>
                </a:moveTo>
                <a:lnTo>
                  <a:pt x="3762244" y="2961912"/>
                </a:lnTo>
                <a:lnTo>
                  <a:pt x="3762244" y="0"/>
                </a:lnTo>
                <a:lnTo>
                  <a:pt x="0" y="0"/>
                </a:lnTo>
                <a:lnTo>
                  <a:pt x="0" y="2961912"/>
                </a:lnTo>
                <a:close/>
              </a:path>
            </a:pathLst>
          </a:custGeom>
          <a:blipFill>
            <a:blip r:embed="rId3">
              <a:extLst>
                <a:ext uri="{96DAC541-7B7A-43D3-8B79-37D633B846F1}">
                  <asvg:svgBlip xmlns:asvg="http://schemas.microsoft.com/office/drawing/2016/SVG/main" r:embed="rId4"/>
                </a:ext>
              </a:extLst>
            </a:blip>
            <a:stretch>
              <a:fillRect t="-575" b="-575"/>
            </a:stretch>
          </a:blipFill>
        </p:spPr>
        <p:txBody>
          <a:bodyPr/>
          <a:lstStyle/>
          <a:p>
            <a:endParaRPr lang="en-US"/>
          </a:p>
        </p:txBody>
      </p:sp>
      <p:sp>
        <p:nvSpPr>
          <p:cNvPr id="17" name="Freeform 17"/>
          <p:cNvSpPr/>
          <p:nvPr/>
        </p:nvSpPr>
        <p:spPr>
          <a:xfrm>
            <a:off x="15340197" y="7186243"/>
            <a:ext cx="2890653" cy="3034082"/>
          </a:xfrm>
          <a:custGeom>
            <a:avLst/>
            <a:gdLst/>
            <a:ahLst/>
            <a:cxnLst/>
            <a:rect l="l" t="t" r="r" b="b"/>
            <a:pathLst>
              <a:path w="2890653" h="3034082">
                <a:moveTo>
                  <a:pt x="0" y="0"/>
                </a:moveTo>
                <a:lnTo>
                  <a:pt x="2890653" y="0"/>
                </a:lnTo>
                <a:lnTo>
                  <a:pt x="2890653" y="3034082"/>
                </a:lnTo>
                <a:lnTo>
                  <a:pt x="0" y="3034082"/>
                </a:lnTo>
                <a:lnTo>
                  <a:pt x="0" y="0"/>
                </a:lnTo>
                <a:close/>
              </a:path>
            </a:pathLst>
          </a:custGeom>
          <a:blipFill>
            <a:blip r:embed="rId5">
              <a:alphaModFix amt="43000"/>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8" name="Freeform 18"/>
          <p:cNvSpPr/>
          <p:nvPr/>
        </p:nvSpPr>
        <p:spPr>
          <a:xfrm>
            <a:off x="0" y="0"/>
            <a:ext cx="3079338" cy="3079338"/>
          </a:xfrm>
          <a:custGeom>
            <a:avLst/>
            <a:gdLst/>
            <a:ahLst/>
            <a:cxnLst/>
            <a:rect l="l" t="t" r="r" b="b"/>
            <a:pathLst>
              <a:path w="3079338" h="3079338">
                <a:moveTo>
                  <a:pt x="0" y="0"/>
                </a:moveTo>
                <a:lnTo>
                  <a:pt x="3079338" y="0"/>
                </a:lnTo>
                <a:lnTo>
                  <a:pt x="3079338" y="3079338"/>
                </a:lnTo>
                <a:lnTo>
                  <a:pt x="0" y="3079338"/>
                </a:lnTo>
                <a:lnTo>
                  <a:pt x="0" y="0"/>
                </a:lnTo>
                <a:close/>
              </a:path>
            </a:pathLst>
          </a:custGeom>
          <a:blipFill>
            <a:blip r:embed="rId7">
              <a:alphaModFix amt="14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19" name="TextBox 19"/>
          <p:cNvSpPr txBox="1"/>
          <p:nvPr/>
        </p:nvSpPr>
        <p:spPr>
          <a:xfrm>
            <a:off x="5778318" y="1082701"/>
            <a:ext cx="6009495" cy="1226820"/>
          </a:xfrm>
          <a:prstGeom prst="rect">
            <a:avLst/>
          </a:prstGeom>
        </p:spPr>
        <p:txBody>
          <a:bodyPr lIns="0" tIns="0" rIns="0" bIns="0" rtlCol="0" anchor="t">
            <a:spAutoFit/>
          </a:bodyPr>
          <a:lstStyle/>
          <a:p>
            <a:pPr algn="l">
              <a:lnSpc>
                <a:spcPts val="10080"/>
              </a:lnSpc>
            </a:pPr>
            <a:r>
              <a:rPr lang="en-US" sz="7200" b="1" i="1">
                <a:solidFill>
                  <a:srgbClr val="2D3880"/>
                </a:solidFill>
                <a:latin typeface="Cormorant Garamond Bold Italics"/>
                <a:ea typeface="Cormorant Garamond Bold Italics"/>
                <a:cs typeface="Cormorant Garamond Bold Italics"/>
                <a:sym typeface="Cormorant Garamond Bold Italics"/>
              </a:rPr>
              <a:t>Proposed 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2598121" cy="2598121"/>
          </a:xfrm>
          <a:custGeom>
            <a:avLst/>
            <a:gdLst/>
            <a:ahLst/>
            <a:cxnLst/>
            <a:rect l="l" t="t" r="r" b="b"/>
            <a:pathLst>
              <a:path w="2598121" h="2598121">
                <a:moveTo>
                  <a:pt x="0" y="0"/>
                </a:moveTo>
                <a:lnTo>
                  <a:pt x="2598121" y="0"/>
                </a:lnTo>
                <a:lnTo>
                  <a:pt x="2598121" y="2598121"/>
                </a:lnTo>
                <a:lnTo>
                  <a:pt x="0" y="259812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flipV="1">
            <a:off x="16393853" y="8392853"/>
            <a:ext cx="1894147" cy="1894147"/>
          </a:xfrm>
          <a:custGeom>
            <a:avLst/>
            <a:gdLst/>
            <a:ahLst/>
            <a:cxnLst/>
            <a:rect l="l" t="t" r="r" b="b"/>
            <a:pathLst>
              <a:path w="1894147" h="1894147">
                <a:moveTo>
                  <a:pt x="1894147" y="1894147"/>
                </a:moveTo>
                <a:lnTo>
                  <a:pt x="0" y="1894147"/>
                </a:lnTo>
                <a:lnTo>
                  <a:pt x="0" y="0"/>
                </a:lnTo>
                <a:lnTo>
                  <a:pt x="1894147" y="0"/>
                </a:lnTo>
                <a:lnTo>
                  <a:pt x="1894147" y="1894147"/>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3786180" y="397119"/>
            <a:ext cx="10715640" cy="2503170"/>
          </a:xfrm>
          <a:prstGeom prst="rect">
            <a:avLst/>
          </a:prstGeom>
        </p:spPr>
        <p:txBody>
          <a:bodyPr lIns="0" tIns="0" rIns="0" bIns="0" rtlCol="0" anchor="t">
            <a:spAutoFit/>
          </a:bodyPr>
          <a:lstStyle/>
          <a:p>
            <a:pPr algn="ctr">
              <a:lnSpc>
                <a:spcPts val="10080"/>
              </a:lnSpc>
            </a:pPr>
            <a:r>
              <a:rPr lang="en-US" sz="7200" b="1" i="1">
                <a:solidFill>
                  <a:srgbClr val="2D3880"/>
                </a:solidFill>
                <a:latin typeface="Cormorant Garamond Bold Italics"/>
                <a:ea typeface="Cormorant Garamond Bold Italics"/>
                <a:cs typeface="Cormorant Garamond Bold Italics"/>
                <a:sym typeface="Cormorant Garamond Bold Italics"/>
              </a:rPr>
              <a:t>System Design for Lecture Hall Management System</a:t>
            </a:r>
          </a:p>
        </p:txBody>
      </p:sp>
      <p:grpSp>
        <p:nvGrpSpPr>
          <p:cNvPr id="5" name="Group 5"/>
          <p:cNvGrpSpPr/>
          <p:nvPr/>
        </p:nvGrpSpPr>
        <p:grpSpPr>
          <a:xfrm>
            <a:off x="438270" y="6157266"/>
            <a:ext cx="3721948" cy="1973367"/>
            <a:chOff x="0" y="0"/>
            <a:chExt cx="4962597" cy="2631156"/>
          </a:xfrm>
        </p:grpSpPr>
        <p:sp>
          <p:nvSpPr>
            <p:cNvPr id="6" name="Freeform 6"/>
            <p:cNvSpPr/>
            <p:nvPr/>
          </p:nvSpPr>
          <p:spPr>
            <a:xfrm>
              <a:off x="0" y="0"/>
              <a:ext cx="4962652" cy="2631186"/>
            </a:xfrm>
            <a:custGeom>
              <a:avLst/>
              <a:gdLst/>
              <a:ahLst/>
              <a:cxnLst/>
              <a:rect l="l" t="t" r="r" b="b"/>
              <a:pathLst>
                <a:path w="4962652" h="2631186">
                  <a:moveTo>
                    <a:pt x="537083" y="0"/>
                  </a:moveTo>
                  <a:lnTo>
                    <a:pt x="4425569" y="0"/>
                  </a:lnTo>
                  <a:cubicBezTo>
                    <a:pt x="4568063" y="0"/>
                    <a:pt x="4704588" y="56642"/>
                    <a:pt x="4805299" y="157353"/>
                  </a:cubicBezTo>
                  <a:cubicBezTo>
                    <a:pt x="4906010" y="258064"/>
                    <a:pt x="4962652" y="394716"/>
                    <a:pt x="4962652" y="537083"/>
                  </a:cubicBezTo>
                  <a:lnTo>
                    <a:pt x="4962652" y="2094103"/>
                  </a:lnTo>
                  <a:cubicBezTo>
                    <a:pt x="4962652" y="2236597"/>
                    <a:pt x="4906010" y="2373122"/>
                    <a:pt x="4805299" y="2473833"/>
                  </a:cubicBezTo>
                  <a:cubicBezTo>
                    <a:pt x="4704588" y="2574544"/>
                    <a:pt x="4567936" y="2631186"/>
                    <a:pt x="4425569" y="2631186"/>
                  </a:cubicBezTo>
                  <a:lnTo>
                    <a:pt x="537083" y="2631186"/>
                  </a:lnTo>
                  <a:cubicBezTo>
                    <a:pt x="394589" y="2631186"/>
                    <a:pt x="258064" y="2574544"/>
                    <a:pt x="157353" y="2473833"/>
                  </a:cubicBezTo>
                  <a:cubicBezTo>
                    <a:pt x="56642" y="2373122"/>
                    <a:pt x="0" y="2236597"/>
                    <a:pt x="0" y="2094103"/>
                  </a:cubicBezTo>
                  <a:lnTo>
                    <a:pt x="0" y="537083"/>
                  </a:lnTo>
                  <a:cubicBezTo>
                    <a:pt x="0" y="394589"/>
                    <a:pt x="56642" y="258064"/>
                    <a:pt x="157353" y="157353"/>
                  </a:cubicBezTo>
                  <a:cubicBezTo>
                    <a:pt x="258064" y="56642"/>
                    <a:pt x="394589" y="0"/>
                    <a:pt x="537083" y="0"/>
                  </a:cubicBezTo>
                  <a:close/>
                </a:path>
              </a:pathLst>
            </a:custGeom>
            <a:solidFill>
              <a:srgbClr val="8382D1"/>
            </a:solidFill>
          </p:spPr>
          <p:txBody>
            <a:bodyPr/>
            <a:lstStyle/>
            <a:p>
              <a:endParaRPr lang="en-US"/>
            </a:p>
          </p:txBody>
        </p:sp>
      </p:grpSp>
      <p:grpSp>
        <p:nvGrpSpPr>
          <p:cNvPr id="7" name="Group 7"/>
          <p:cNvGrpSpPr/>
          <p:nvPr/>
        </p:nvGrpSpPr>
        <p:grpSpPr>
          <a:xfrm>
            <a:off x="438270" y="5940274"/>
            <a:ext cx="3721948" cy="2190359"/>
            <a:chOff x="0" y="0"/>
            <a:chExt cx="4962597" cy="2920478"/>
          </a:xfrm>
        </p:grpSpPr>
        <p:sp>
          <p:nvSpPr>
            <p:cNvPr id="8" name="Freeform 8"/>
            <p:cNvSpPr/>
            <p:nvPr/>
          </p:nvSpPr>
          <p:spPr>
            <a:xfrm>
              <a:off x="0" y="0"/>
              <a:ext cx="4962597" cy="2920478"/>
            </a:xfrm>
            <a:custGeom>
              <a:avLst/>
              <a:gdLst/>
              <a:ahLst/>
              <a:cxnLst/>
              <a:rect l="l" t="t" r="r" b="b"/>
              <a:pathLst>
                <a:path w="4962597" h="2920478">
                  <a:moveTo>
                    <a:pt x="0" y="0"/>
                  </a:moveTo>
                  <a:lnTo>
                    <a:pt x="4962597" y="0"/>
                  </a:lnTo>
                  <a:lnTo>
                    <a:pt x="4962597" y="2920478"/>
                  </a:lnTo>
                  <a:lnTo>
                    <a:pt x="0" y="2920478"/>
                  </a:lnTo>
                  <a:close/>
                </a:path>
              </a:pathLst>
            </a:custGeom>
            <a:solidFill>
              <a:srgbClr val="000000">
                <a:alpha val="0"/>
              </a:srgbClr>
            </a:solidFill>
          </p:spPr>
          <p:txBody>
            <a:bodyPr/>
            <a:lstStyle/>
            <a:p>
              <a:endParaRPr lang="en-US"/>
            </a:p>
          </p:txBody>
        </p:sp>
        <p:sp>
          <p:nvSpPr>
            <p:cNvPr id="9" name="TextBox 9"/>
            <p:cNvSpPr txBox="1"/>
            <p:nvPr/>
          </p:nvSpPr>
          <p:spPr>
            <a:xfrm>
              <a:off x="0" y="-57150"/>
              <a:ext cx="4962597" cy="2977628"/>
            </a:xfrm>
            <a:prstGeom prst="rect">
              <a:avLst/>
            </a:prstGeom>
          </p:spPr>
          <p:txBody>
            <a:bodyPr lIns="0" tIns="0" rIns="0" bIns="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Historical Data</a:t>
              </a:r>
            </a:p>
            <a:p>
              <a:pPr algn="ctr">
                <a:lnSpc>
                  <a:spcPts val="4480"/>
                </a:lnSpc>
              </a:pPr>
              <a:r>
                <a:rPr lang="en-US" sz="3200">
                  <a:solidFill>
                    <a:srgbClr val="FFFFFF"/>
                  </a:solidFill>
                  <a:latin typeface="Glacial Indifference"/>
                  <a:ea typeface="Glacial Indifference"/>
                  <a:cs typeface="Glacial Indifference"/>
                  <a:sym typeface="Glacial Indifference"/>
                </a:rPr>
                <a:t>&amp; Real-Time Demand</a:t>
              </a:r>
            </a:p>
          </p:txBody>
        </p:sp>
      </p:grpSp>
      <p:sp>
        <p:nvSpPr>
          <p:cNvPr id="10" name="TextBox 10"/>
          <p:cNvSpPr txBox="1"/>
          <p:nvPr/>
        </p:nvSpPr>
        <p:spPr>
          <a:xfrm>
            <a:off x="1199732" y="4972050"/>
            <a:ext cx="2199023" cy="774700"/>
          </a:xfrm>
          <a:prstGeom prst="rect">
            <a:avLst/>
          </a:prstGeom>
        </p:spPr>
        <p:txBody>
          <a:bodyPr lIns="0" tIns="0" rIns="0" bIns="0" rtlCol="0" anchor="t">
            <a:spAutoFit/>
          </a:bodyPr>
          <a:lstStyle/>
          <a:p>
            <a:pPr algn="ctr">
              <a:lnSpc>
                <a:spcPts val="5598"/>
              </a:lnSpc>
            </a:pPr>
            <a:r>
              <a:rPr lang="en-US" sz="3999" b="1">
                <a:solidFill>
                  <a:srgbClr val="2D3880"/>
                </a:solidFill>
                <a:latin typeface="Glacial Indifference Bold"/>
                <a:ea typeface="Glacial Indifference Bold"/>
                <a:cs typeface="Glacial Indifference Bold"/>
                <a:sym typeface="Glacial Indifference Bold"/>
              </a:rPr>
              <a:t>Inputs</a:t>
            </a:r>
          </a:p>
        </p:txBody>
      </p:sp>
      <p:sp>
        <p:nvSpPr>
          <p:cNvPr id="11" name="TextBox 11"/>
          <p:cNvSpPr txBox="1"/>
          <p:nvPr/>
        </p:nvSpPr>
        <p:spPr>
          <a:xfrm>
            <a:off x="6676640" y="3375869"/>
            <a:ext cx="4469908" cy="774700"/>
          </a:xfrm>
          <a:prstGeom prst="rect">
            <a:avLst/>
          </a:prstGeom>
        </p:spPr>
        <p:txBody>
          <a:bodyPr lIns="0" tIns="0" rIns="0" bIns="0" rtlCol="0" anchor="t">
            <a:spAutoFit/>
          </a:bodyPr>
          <a:lstStyle/>
          <a:p>
            <a:pPr algn="ctr">
              <a:lnSpc>
                <a:spcPts val="5598"/>
              </a:lnSpc>
            </a:pPr>
            <a:r>
              <a:rPr lang="en-US" sz="3999" b="1">
                <a:solidFill>
                  <a:srgbClr val="2D3880"/>
                </a:solidFill>
                <a:latin typeface="Glacial Indifference Bold"/>
                <a:ea typeface="Glacial Indifference Bold"/>
                <a:cs typeface="Glacial Indifference Bold"/>
                <a:sym typeface="Glacial Indifference Bold"/>
              </a:rPr>
              <a:t>Core Components</a:t>
            </a:r>
          </a:p>
        </p:txBody>
      </p:sp>
      <p:sp>
        <p:nvSpPr>
          <p:cNvPr id="12" name="Freeform 12"/>
          <p:cNvSpPr/>
          <p:nvPr/>
        </p:nvSpPr>
        <p:spPr>
          <a:xfrm>
            <a:off x="6676640" y="4096266"/>
            <a:ext cx="4738244" cy="5878375"/>
          </a:xfrm>
          <a:custGeom>
            <a:avLst/>
            <a:gdLst/>
            <a:ahLst/>
            <a:cxnLst/>
            <a:rect l="l" t="t" r="r" b="b"/>
            <a:pathLst>
              <a:path w="4738244" h="5878375">
                <a:moveTo>
                  <a:pt x="0" y="0"/>
                </a:moveTo>
                <a:lnTo>
                  <a:pt x="4738244" y="0"/>
                </a:lnTo>
                <a:lnTo>
                  <a:pt x="4738244" y="5878375"/>
                </a:lnTo>
                <a:lnTo>
                  <a:pt x="0" y="587837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13" name="Group 13"/>
          <p:cNvGrpSpPr/>
          <p:nvPr/>
        </p:nvGrpSpPr>
        <p:grpSpPr>
          <a:xfrm>
            <a:off x="7184788" y="4671996"/>
            <a:ext cx="3721948" cy="1546259"/>
            <a:chOff x="0" y="0"/>
            <a:chExt cx="4962597" cy="2061679"/>
          </a:xfrm>
        </p:grpSpPr>
        <p:sp>
          <p:nvSpPr>
            <p:cNvPr id="14" name="Freeform 14"/>
            <p:cNvSpPr/>
            <p:nvPr/>
          </p:nvSpPr>
          <p:spPr>
            <a:xfrm>
              <a:off x="0" y="0"/>
              <a:ext cx="4962652" cy="2061718"/>
            </a:xfrm>
            <a:custGeom>
              <a:avLst/>
              <a:gdLst/>
              <a:ahLst/>
              <a:cxnLst/>
              <a:rect l="l" t="t" r="r" b="b"/>
              <a:pathLst>
                <a:path w="4962652" h="2061718">
                  <a:moveTo>
                    <a:pt x="537083" y="0"/>
                  </a:moveTo>
                  <a:lnTo>
                    <a:pt x="4425569" y="0"/>
                  </a:lnTo>
                  <a:cubicBezTo>
                    <a:pt x="4568063" y="0"/>
                    <a:pt x="4704588" y="56642"/>
                    <a:pt x="4805299" y="157353"/>
                  </a:cubicBezTo>
                  <a:cubicBezTo>
                    <a:pt x="4906010" y="258064"/>
                    <a:pt x="4962652" y="394716"/>
                    <a:pt x="4962652" y="537083"/>
                  </a:cubicBezTo>
                  <a:lnTo>
                    <a:pt x="4962652" y="1524635"/>
                  </a:lnTo>
                  <a:cubicBezTo>
                    <a:pt x="4962652" y="1667129"/>
                    <a:pt x="4906010" y="1803654"/>
                    <a:pt x="4805299" y="1904365"/>
                  </a:cubicBezTo>
                  <a:cubicBezTo>
                    <a:pt x="4704588" y="2005076"/>
                    <a:pt x="4567936" y="2061718"/>
                    <a:pt x="4425569" y="2061718"/>
                  </a:cubicBezTo>
                  <a:lnTo>
                    <a:pt x="537083" y="2061718"/>
                  </a:lnTo>
                  <a:cubicBezTo>
                    <a:pt x="394589" y="2061718"/>
                    <a:pt x="258064" y="2005076"/>
                    <a:pt x="157353" y="1904365"/>
                  </a:cubicBezTo>
                  <a:cubicBezTo>
                    <a:pt x="56642" y="1803654"/>
                    <a:pt x="0" y="1667129"/>
                    <a:pt x="0" y="1524635"/>
                  </a:cubicBezTo>
                  <a:lnTo>
                    <a:pt x="0" y="537083"/>
                  </a:lnTo>
                  <a:cubicBezTo>
                    <a:pt x="0" y="394589"/>
                    <a:pt x="56642" y="258064"/>
                    <a:pt x="157353" y="157353"/>
                  </a:cubicBezTo>
                  <a:cubicBezTo>
                    <a:pt x="258064" y="56642"/>
                    <a:pt x="394589" y="0"/>
                    <a:pt x="537083" y="0"/>
                  </a:cubicBezTo>
                  <a:close/>
                </a:path>
              </a:pathLst>
            </a:custGeom>
            <a:solidFill>
              <a:srgbClr val="FFFFFF"/>
            </a:solidFill>
          </p:spPr>
          <p:txBody>
            <a:bodyPr/>
            <a:lstStyle/>
            <a:p>
              <a:endParaRPr lang="en-US"/>
            </a:p>
          </p:txBody>
        </p:sp>
      </p:grpSp>
      <p:grpSp>
        <p:nvGrpSpPr>
          <p:cNvPr id="15" name="Group 15"/>
          <p:cNvGrpSpPr/>
          <p:nvPr/>
        </p:nvGrpSpPr>
        <p:grpSpPr>
          <a:xfrm>
            <a:off x="7184788" y="4455005"/>
            <a:ext cx="3721948" cy="1763250"/>
            <a:chOff x="0" y="0"/>
            <a:chExt cx="4962597" cy="2351001"/>
          </a:xfrm>
        </p:grpSpPr>
        <p:sp>
          <p:nvSpPr>
            <p:cNvPr id="16" name="Freeform 16"/>
            <p:cNvSpPr/>
            <p:nvPr/>
          </p:nvSpPr>
          <p:spPr>
            <a:xfrm>
              <a:off x="0" y="0"/>
              <a:ext cx="4962597" cy="2351001"/>
            </a:xfrm>
            <a:custGeom>
              <a:avLst/>
              <a:gdLst/>
              <a:ahLst/>
              <a:cxnLst/>
              <a:rect l="l" t="t" r="r" b="b"/>
              <a:pathLst>
                <a:path w="4962597" h="2351001">
                  <a:moveTo>
                    <a:pt x="0" y="0"/>
                  </a:moveTo>
                  <a:lnTo>
                    <a:pt x="4962597" y="0"/>
                  </a:lnTo>
                  <a:lnTo>
                    <a:pt x="4962597" y="2351001"/>
                  </a:lnTo>
                  <a:lnTo>
                    <a:pt x="0" y="2351001"/>
                  </a:lnTo>
                  <a:close/>
                </a:path>
              </a:pathLst>
            </a:custGeom>
            <a:solidFill>
              <a:srgbClr val="000000">
                <a:alpha val="0"/>
              </a:srgbClr>
            </a:solidFill>
          </p:spPr>
          <p:txBody>
            <a:bodyPr/>
            <a:lstStyle/>
            <a:p>
              <a:endParaRPr lang="en-US"/>
            </a:p>
          </p:txBody>
        </p:sp>
        <p:sp>
          <p:nvSpPr>
            <p:cNvPr id="17" name="TextBox 17"/>
            <p:cNvSpPr txBox="1"/>
            <p:nvPr/>
          </p:nvSpPr>
          <p:spPr>
            <a:xfrm>
              <a:off x="0" y="-57150"/>
              <a:ext cx="4962597" cy="2408151"/>
            </a:xfrm>
            <a:prstGeom prst="rect">
              <a:avLst/>
            </a:prstGeom>
          </p:spPr>
          <p:txBody>
            <a:bodyPr lIns="0" tIns="0" rIns="0" bIns="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Historical Data</a:t>
              </a:r>
            </a:p>
            <a:p>
              <a:pPr algn="ctr">
                <a:lnSpc>
                  <a:spcPts val="4480"/>
                </a:lnSpc>
              </a:pPr>
              <a:endParaRPr lang="en-US" sz="3200">
                <a:solidFill>
                  <a:srgbClr val="FFFFFF"/>
                </a:solidFill>
                <a:latin typeface="Glacial Indifference"/>
                <a:ea typeface="Glacial Indifference"/>
                <a:cs typeface="Glacial Indifference"/>
                <a:sym typeface="Glacial Indifference"/>
              </a:endParaRPr>
            </a:p>
          </p:txBody>
        </p:sp>
      </p:grpSp>
      <p:grpSp>
        <p:nvGrpSpPr>
          <p:cNvPr id="18" name="Group 18"/>
          <p:cNvGrpSpPr/>
          <p:nvPr/>
        </p:nvGrpSpPr>
        <p:grpSpPr>
          <a:xfrm>
            <a:off x="7184788" y="6392066"/>
            <a:ext cx="3721948" cy="1590815"/>
            <a:chOff x="0" y="0"/>
            <a:chExt cx="4962597" cy="2121087"/>
          </a:xfrm>
        </p:grpSpPr>
        <p:sp>
          <p:nvSpPr>
            <p:cNvPr id="19" name="Freeform 19"/>
            <p:cNvSpPr/>
            <p:nvPr/>
          </p:nvSpPr>
          <p:spPr>
            <a:xfrm>
              <a:off x="0" y="0"/>
              <a:ext cx="4962652" cy="2121154"/>
            </a:xfrm>
            <a:custGeom>
              <a:avLst/>
              <a:gdLst/>
              <a:ahLst/>
              <a:cxnLst/>
              <a:rect l="l" t="t" r="r" b="b"/>
              <a:pathLst>
                <a:path w="4962652" h="2121154">
                  <a:moveTo>
                    <a:pt x="537083" y="0"/>
                  </a:moveTo>
                  <a:lnTo>
                    <a:pt x="4425569" y="0"/>
                  </a:lnTo>
                  <a:cubicBezTo>
                    <a:pt x="4568063" y="0"/>
                    <a:pt x="4704588" y="56642"/>
                    <a:pt x="4805299" y="157353"/>
                  </a:cubicBezTo>
                  <a:cubicBezTo>
                    <a:pt x="4906010" y="258064"/>
                    <a:pt x="4962652" y="394716"/>
                    <a:pt x="4962652" y="537083"/>
                  </a:cubicBezTo>
                  <a:lnTo>
                    <a:pt x="4962652" y="1584071"/>
                  </a:lnTo>
                  <a:cubicBezTo>
                    <a:pt x="4962652" y="1726565"/>
                    <a:pt x="4906010" y="1863090"/>
                    <a:pt x="4805299" y="1963801"/>
                  </a:cubicBezTo>
                  <a:cubicBezTo>
                    <a:pt x="4704588" y="2064512"/>
                    <a:pt x="4567936" y="2121154"/>
                    <a:pt x="4425569" y="2121154"/>
                  </a:cubicBezTo>
                  <a:lnTo>
                    <a:pt x="537083" y="2121154"/>
                  </a:lnTo>
                  <a:cubicBezTo>
                    <a:pt x="394589" y="2121154"/>
                    <a:pt x="258064" y="2064512"/>
                    <a:pt x="157353" y="1963801"/>
                  </a:cubicBezTo>
                  <a:cubicBezTo>
                    <a:pt x="56642" y="1863090"/>
                    <a:pt x="0" y="1726438"/>
                    <a:pt x="0" y="1584071"/>
                  </a:cubicBezTo>
                  <a:lnTo>
                    <a:pt x="0" y="537083"/>
                  </a:lnTo>
                  <a:cubicBezTo>
                    <a:pt x="0" y="394589"/>
                    <a:pt x="56642" y="258064"/>
                    <a:pt x="157353" y="157353"/>
                  </a:cubicBezTo>
                  <a:cubicBezTo>
                    <a:pt x="258064" y="56642"/>
                    <a:pt x="394589" y="0"/>
                    <a:pt x="537083" y="0"/>
                  </a:cubicBezTo>
                  <a:close/>
                </a:path>
              </a:pathLst>
            </a:custGeom>
            <a:solidFill>
              <a:srgbClr val="FFFFFF"/>
            </a:solidFill>
          </p:spPr>
          <p:txBody>
            <a:bodyPr/>
            <a:lstStyle/>
            <a:p>
              <a:endParaRPr lang="en-US"/>
            </a:p>
          </p:txBody>
        </p:sp>
      </p:grpSp>
      <p:grpSp>
        <p:nvGrpSpPr>
          <p:cNvPr id="20" name="Group 20"/>
          <p:cNvGrpSpPr/>
          <p:nvPr/>
        </p:nvGrpSpPr>
        <p:grpSpPr>
          <a:xfrm>
            <a:off x="7184788" y="6175075"/>
            <a:ext cx="3721948" cy="1807806"/>
            <a:chOff x="0" y="0"/>
            <a:chExt cx="4962597" cy="2410409"/>
          </a:xfrm>
        </p:grpSpPr>
        <p:sp>
          <p:nvSpPr>
            <p:cNvPr id="21" name="Freeform 21"/>
            <p:cNvSpPr/>
            <p:nvPr/>
          </p:nvSpPr>
          <p:spPr>
            <a:xfrm>
              <a:off x="0" y="0"/>
              <a:ext cx="4962597" cy="2410409"/>
            </a:xfrm>
            <a:custGeom>
              <a:avLst/>
              <a:gdLst/>
              <a:ahLst/>
              <a:cxnLst/>
              <a:rect l="l" t="t" r="r" b="b"/>
              <a:pathLst>
                <a:path w="4962597" h="2410409">
                  <a:moveTo>
                    <a:pt x="0" y="0"/>
                  </a:moveTo>
                  <a:lnTo>
                    <a:pt x="4962597" y="0"/>
                  </a:lnTo>
                  <a:lnTo>
                    <a:pt x="4962597" y="2410409"/>
                  </a:lnTo>
                  <a:lnTo>
                    <a:pt x="0" y="2410409"/>
                  </a:lnTo>
                  <a:close/>
                </a:path>
              </a:pathLst>
            </a:custGeom>
            <a:solidFill>
              <a:srgbClr val="000000">
                <a:alpha val="0"/>
              </a:srgbClr>
            </a:solidFill>
          </p:spPr>
          <p:txBody>
            <a:bodyPr/>
            <a:lstStyle/>
            <a:p>
              <a:endParaRPr lang="en-US"/>
            </a:p>
          </p:txBody>
        </p:sp>
        <p:sp>
          <p:nvSpPr>
            <p:cNvPr id="22" name="TextBox 22"/>
            <p:cNvSpPr txBox="1"/>
            <p:nvPr/>
          </p:nvSpPr>
          <p:spPr>
            <a:xfrm>
              <a:off x="0" y="-57150"/>
              <a:ext cx="4962597" cy="2467559"/>
            </a:xfrm>
            <a:prstGeom prst="rect">
              <a:avLst/>
            </a:prstGeom>
          </p:spPr>
          <p:txBody>
            <a:bodyPr lIns="0" tIns="0" rIns="0" bIns="0" rtlCol="0" anchor="ctr"/>
            <a:lstStyle/>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Genetic Algorithm</a:t>
              </a:r>
            </a:p>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Module</a:t>
              </a:r>
            </a:p>
          </p:txBody>
        </p:sp>
      </p:grpSp>
      <p:grpSp>
        <p:nvGrpSpPr>
          <p:cNvPr id="23" name="Group 23"/>
          <p:cNvGrpSpPr/>
          <p:nvPr/>
        </p:nvGrpSpPr>
        <p:grpSpPr>
          <a:xfrm>
            <a:off x="7184788" y="8156692"/>
            <a:ext cx="3721948" cy="1474225"/>
            <a:chOff x="0" y="0"/>
            <a:chExt cx="4962597" cy="1965633"/>
          </a:xfrm>
        </p:grpSpPr>
        <p:sp>
          <p:nvSpPr>
            <p:cNvPr id="24" name="Freeform 24"/>
            <p:cNvSpPr/>
            <p:nvPr/>
          </p:nvSpPr>
          <p:spPr>
            <a:xfrm>
              <a:off x="0" y="0"/>
              <a:ext cx="4962652" cy="1965706"/>
            </a:xfrm>
            <a:custGeom>
              <a:avLst/>
              <a:gdLst/>
              <a:ahLst/>
              <a:cxnLst/>
              <a:rect l="l" t="t" r="r" b="b"/>
              <a:pathLst>
                <a:path w="4962652" h="1965706">
                  <a:moveTo>
                    <a:pt x="537083" y="0"/>
                  </a:moveTo>
                  <a:lnTo>
                    <a:pt x="4425569" y="0"/>
                  </a:lnTo>
                  <a:cubicBezTo>
                    <a:pt x="4568063" y="0"/>
                    <a:pt x="4704588" y="56642"/>
                    <a:pt x="4805299" y="157353"/>
                  </a:cubicBezTo>
                  <a:cubicBezTo>
                    <a:pt x="4906010" y="258064"/>
                    <a:pt x="4962652" y="394716"/>
                    <a:pt x="4962652" y="537083"/>
                  </a:cubicBezTo>
                  <a:lnTo>
                    <a:pt x="4962652" y="1428623"/>
                  </a:lnTo>
                  <a:cubicBezTo>
                    <a:pt x="4962652" y="1571117"/>
                    <a:pt x="4906010" y="1707642"/>
                    <a:pt x="4805299" y="1808353"/>
                  </a:cubicBezTo>
                  <a:cubicBezTo>
                    <a:pt x="4704588" y="1909064"/>
                    <a:pt x="4567936" y="1965706"/>
                    <a:pt x="4425569" y="1965706"/>
                  </a:cubicBezTo>
                  <a:lnTo>
                    <a:pt x="537083" y="1965706"/>
                  </a:lnTo>
                  <a:cubicBezTo>
                    <a:pt x="394589" y="1965706"/>
                    <a:pt x="258064" y="1909064"/>
                    <a:pt x="157353" y="1808353"/>
                  </a:cubicBezTo>
                  <a:cubicBezTo>
                    <a:pt x="56642" y="1707642"/>
                    <a:pt x="0" y="1570990"/>
                    <a:pt x="0" y="1428623"/>
                  </a:cubicBezTo>
                  <a:lnTo>
                    <a:pt x="0" y="537083"/>
                  </a:lnTo>
                  <a:cubicBezTo>
                    <a:pt x="0" y="394589"/>
                    <a:pt x="56642" y="258064"/>
                    <a:pt x="157353" y="157353"/>
                  </a:cubicBezTo>
                  <a:cubicBezTo>
                    <a:pt x="258064" y="56642"/>
                    <a:pt x="394589" y="0"/>
                    <a:pt x="537083" y="0"/>
                  </a:cubicBezTo>
                  <a:close/>
                </a:path>
              </a:pathLst>
            </a:custGeom>
            <a:solidFill>
              <a:srgbClr val="FFFFFF"/>
            </a:solidFill>
          </p:spPr>
          <p:txBody>
            <a:bodyPr/>
            <a:lstStyle/>
            <a:p>
              <a:endParaRPr lang="en-US"/>
            </a:p>
          </p:txBody>
        </p:sp>
      </p:grpSp>
      <p:grpSp>
        <p:nvGrpSpPr>
          <p:cNvPr id="25" name="Group 25"/>
          <p:cNvGrpSpPr/>
          <p:nvPr/>
        </p:nvGrpSpPr>
        <p:grpSpPr>
          <a:xfrm>
            <a:off x="7184788" y="7939700"/>
            <a:ext cx="3721948" cy="1691217"/>
            <a:chOff x="0" y="0"/>
            <a:chExt cx="4962597" cy="2254955"/>
          </a:xfrm>
        </p:grpSpPr>
        <p:sp>
          <p:nvSpPr>
            <p:cNvPr id="26" name="Freeform 26"/>
            <p:cNvSpPr/>
            <p:nvPr/>
          </p:nvSpPr>
          <p:spPr>
            <a:xfrm>
              <a:off x="0" y="0"/>
              <a:ext cx="4962597" cy="2254955"/>
            </a:xfrm>
            <a:custGeom>
              <a:avLst/>
              <a:gdLst/>
              <a:ahLst/>
              <a:cxnLst/>
              <a:rect l="l" t="t" r="r" b="b"/>
              <a:pathLst>
                <a:path w="4962597" h="2254955">
                  <a:moveTo>
                    <a:pt x="0" y="0"/>
                  </a:moveTo>
                  <a:lnTo>
                    <a:pt x="4962597" y="0"/>
                  </a:lnTo>
                  <a:lnTo>
                    <a:pt x="4962597" y="2254955"/>
                  </a:lnTo>
                  <a:lnTo>
                    <a:pt x="0" y="2254955"/>
                  </a:lnTo>
                  <a:close/>
                </a:path>
              </a:pathLst>
            </a:custGeom>
            <a:solidFill>
              <a:srgbClr val="000000">
                <a:alpha val="0"/>
              </a:srgbClr>
            </a:solidFill>
          </p:spPr>
          <p:txBody>
            <a:bodyPr/>
            <a:lstStyle/>
            <a:p>
              <a:endParaRPr lang="en-US"/>
            </a:p>
          </p:txBody>
        </p:sp>
        <p:sp>
          <p:nvSpPr>
            <p:cNvPr id="27" name="TextBox 27"/>
            <p:cNvSpPr txBox="1"/>
            <p:nvPr/>
          </p:nvSpPr>
          <p:spPr>
            <a:xfrm>
              <a:off x="0" y="-57150"/>
              <a:ext cx="4962597" cy="2312105"/>
            </a:xfrm>
            <a:prstGeom prst="rect">
              <a:avLst/>
            </a:prstGeom>
          </p:spPr>
          <p:txBody>
            <a:bodyPr lIns="0" tIns="0" rIns="0" bIns="0" rtlCol="0" anchor="ctr"/>
            <a:lstStyle/>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Intelligent</a:t>
              </a:r>
            </a:p>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Agents</a:t>
              </a:r>
            </a:p>
          </p:txBody>
        </p:sp>
      </p:grpSp>
      <p:sp>
        <p:nvSpPr>
          <p:cNvPr id="28" name="TextBox 28"/>
          <p:cNvSpPr txBox="1"/>
          <p:nvPr/>
        </p:nvSpPr>
        <p:spPr>
          <a:xfrm>
            <a:off x="7184788" y="4809490"/>
            <a:ext cx="3721948" cy="1156970"/>
          </a:xfrm>
          <a:prstGeom prst="rect">
            <a:avLst/>
          </a:prstGeom>
        </p:spPr>
        <p:txBody>
          <a:bodyPr lIns="0" tIns="0" rIns="0" bIns="0" rtlCol="0" anchor="t">
            <a:spAutoFit/>
          </a:bodyPr>
          <a:lstStyle/>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Predictive</a:t>
            </a:r>
          </a:p>
          <a:p>
            <a:pPr algn="ctr">
              <a:lnSpc>
                <a:spcPts val="4480"/>
              </a:lnSpc>
            </a:pPr>
            <a:r>
              <a:rPr lang="en-US" sz="3200" b="1">
                <a:solidFill>
                  <a:srgbClr val="18579C"/>
                </a:solidFill>
                <a:latin typeface="Glacial Indifference Bold"/>
                <a:ea typeface="Glacial Indifference Bold"/>
                <a:cs typeface="Glacial Indifference Bold"/>
                <a:sym typeface="Glacial Indifference Bold"/>
              </a:rPr>
              <a:t>Analytics Engine</a:t>
            </a:r>
          </a:p>
        </p:txBody>
      </p:sp>
      <p:grpSp>
        <p:nvGrpSpPr>
          <p:cNvPr id="29" name="Group 29"/>
          <p:cNvGrpSpPr/>
          <p:nvPr/>
        </p:nvGrpSpPr>
        <p:grpSpPr>
          <a:xfrm>
            <a:off x="13675751" y="6157266"/>
            <a:ext cx="3721948" cy="1973367"/>
            <a:chOff x="0" y="0"/>
            <a:chExt cx="4962597" cy="2631156"/>
          </a:xfrm>
        </p:grpSpPr>
        <p:sp>
          <p:nvSpPr>
            <p:cNvPr id="30" name="Freeform 30"/>
            <p:cNvSpPr/>
            <p:nvPr/>
          </p:nvSpPr>
          <p:spPr>
            <a:xfrm>
              <a:off x="0" y="0"/>
              <a:ext cx="4962652" cy="2631186"/>
            </a:xfrm>
            <a:custGeom>
              <a:avLst/>
              <a:gdLst/>
              <a:ahLst/>
              <a:cxnLst/>
              <a:rect l="l" t="t" r="r" b="b"/>
              <a:pathLst>
                <a:path w="4962652" h="2631186">
                  <a:moveTo>
                    <a:pt x="537083" y="0"/>
                  </a:moveTo>
                  <a:lnTo>
                    <a:pt x="4425569" y="0"/>
                  </a:lnTo>
                  <a:cubicBezTo>
                    <a:pt x="4568063" y="0"/>
                    <a:pt x="4704588" y="56642"/>
                    <a:pt x="4805299" y="157353"/>
                  </a:cubicBezTo>
                  <a:cubicBezTo>
                    <a:pt x="4906010" y="258064"/>
                    <a:pt x="4962652" y="394716"/>
                    <a:pt x="4962652" y="537083"/>
                  </a:cubicBezTo>
                  <a:lnTo>
                    <a:pt x="4962652" y="2094103"/>
                  </a:lnTo>
                  <a:cubicBezTo>
                    <a:pt x="4962652" y="2236597"/>
                    <a:pt x="4906010" y="2373122"/>
                    <a:pt x="4805299" y="2473833"/>
                  </a:cubicBezTo>
                  <a:cubicBezTo>
                    <a:pt x="4704588" y="2574544"/>
                    <a:pt x="4567936" y="2631186"/>
                    <a:pt x="4425569" y="2631186"/>
                  </a:cubicBezTo>
                  <a:lnTo>
                    <a:pt x="537083" y="2631186"/>
                  </a:lnTo>
                  <a:cubicBezTo>
                    <a:pt x="394589" y="2631186"/>
                    <a:pt x="258064" y="2574544"/>
                    <a:pt x="157353" y="2473833"/>
                  </a:cubicBezTo>
                  <a:cubicBezTo>
                    <a:pt x="56642" y="2373122"/>
                    <a:pt x="0" y="2236597"/>
                    <a:pt x="0" y="2094103"/>
                  </a:cubicBezTo>
                  <a:lnTo>
                    <a:pt x="0" y="537083"/>
                  </a:lnTo>
                  <a:cubicBezTo>
                    <a:pt x="0" y="394589"/>
                    <a:pt x="56642" y="258064"/>
                    <a:pt x="157353" y="157353"/>
                  </a:cubicBezTo>
                  <a:cubicBezTo>
                    <a:pt x="258064" y="56642"/>
                    <a:pt x="394589" y="0"/>
                    <a:pt x="537083" y="0"/>
                  </a:cubicBezTo>
                  <a:close/>
                </a:path>
              </a:pathLst>
            </a:custGeom>
            <a:solidFill>
              <a:srgbClr val="8382D1"/>
            </a:solidFill>
          </p:spPr>
          <p:txBody>
            <a:bodyPr/>
            <a:lstStyle/>
            <a:p>
              <a:endParaRPr lang="en-US"/>
            </a:p>
          </p:txBody>
        </p:sp>
      </p:grpSp>
      <p:grpSp>
        <p:nvGrpSpPr>
          <p:cNvPr id="31" name="Group 31"/>
          <p:cNvGrpSpPr/>
          <p:nvPr/>
        </p:nvGrpSpPr>
        <p:grpSpPr>
          <a:xfrm>
            <a:off x="13675751" y="5940274"/>
            <a:ext cx="3721948" cy="2190359"/>
            <a:chOff x="0" y="0"/>
            <a:chExt cx="4962597" cy="2920478"/>
          </a:xfrm>
        </p:grpSpPr>
        <p:sp>
          <p:nvSpPr>
            <p:cNvPr id="32" name="Freeform 32"/>
            <p:cNvSpPr/>
            <p:nvPr/>
          </p:nvSpPr>
          <p:spPr>
            <a:xfrm>
              <a:off x="0" y="0"/>
              <a:ext cx="4962597" cy="2920478"/>
            </a:xfrm>
            <a:custGeom>
              <a:avLst/>
              <a:gdLst/>
              <a:ahLst/>
              <a:cxnLst/>
              <a:rect l="l" t="t" r="r" b="b"/>
              <a:pathLst>
                <a:path w="4962597" h="2920478">
                  <a:moveTo>
                    <a:pt x="0" y="0"/>
                  </a:moveTo>
                  <a:lnTo>
                    <a:pt x="4962597" y="0"/>
                  </a:lnTo>
                  <a:lnTo>
                    <a:pt x="4962597" y="2920478"/>
                  </a:lnTo>
                  <a:lnTo>
                    <a:pt x="0" y="2920478"/>
                  </a:lnTo>
                  <a:close/>
                </a:path>
              </a:pathLst>
            </a:custGeom>
            <a:solidFill>
              <a:srgbClr val="000000">
                <a:alpha val="0"/>
              </a:srgbClr>
            </a:solidFill>
          </p:spPr>
          <p:txBody>
            <a:bodyPr/>
            <a:lstStyle/>
            <a:p>
              <a:endParaRPr lang="en-US"/>
            </a:p>
          </p:txBody>
        </p:sp>
        <p:sp>
          <p:nvSpPr>
            <p:cNvPr id="33" name="TextBox 33"/>
            <p:cNvSpPr txBox="1"/>
            <p:nvPr/>
          </p:nvSpPr>
          <p:spPr>
            <a:xfrm>
              <a:off x="0" y="-57150"/>
              <a:ext cx="4962597" cy="2977628"/>
            </a:xfrm>
            <a:prstGeom prst="rect">
              <a:avLst/>
            </a:prstGeom>
          </p:spPr>
          <p:txBody>
            <a:bodyPr lIns="0" tIns="0" rIns="0" bIns="0" rtlCol="0" anchor="ctr"/>
            <a:lstStyle/>
            <a:p>
              <a:pPr algn="ctr">
                <a:lnSpc>
                  <a:spcPts val="4480"/>
                </a:lnSpc>
              </a:pPr>
              <a:r>
                <a:rPr lang="en-US" sz="3200">
                  <a:solidFill>
                    <a:srgbClr val="FFFFFF"/>
                  </a:solidFill>
                  <a:latin typeface="Glacial Indifference"/>
                  <a:ea typeface="Glacial Indifference"/>
                  <a:cs typeface="Glacial Indifference"/>
                  <a:sym typeface="Glacial Indifference"/>
                </a:rPr>
                <a:t>Optimized</a:t>
              </a:r>
            </a:p>
            <a:p>
              <a:pPr algn="ctr">
                <a:lnSpc>
                  <a:spcPts val="4480"/>
                </a:lnSpc>
              </a:pPr>
              <a:r>
                <a:rPr lang="en-US" sz="3200">
                  <a:solidFill>
                    <a:srgbClr val="FFFFFF"/>
                  </a:solidFill>
                  <a:latin typeface="Glacial Indifference"/>
                  <a:ea typeface="Glacial Indifference"/>
                  <a:cs typeface="Glacial Indifference"/>
                  <a:sym typeface="Glacial Indifference"/>
                </a:rPr>
                <a:t>Schedules</a:t>
              </a:r>
            </a:p>
            <a:p>
              <a:pPr algn="ctr">
                <a:lnSpc>
                  <a:spcPts val="4480"/>
                </a:lnSpc>
              </a:pPr>
              <a:r>
                <a:rPr lang="en-US" sz="3200">
                  <a:solidFill>
                    <a:srgbClr val="FFFFFF"/>
                  </a:solidFill>
                  <a:latin typeface="Glacial Indifference"/>
                  <a:ea typeface="Glacial Indifference"/>
                  <a:cs typeface="Glacial Indifference"/>
                  <a:sym typeface="Glacial Indifference"/>
                </a:rPr>
                <a:t>&amp; Visual Reports</a:t>
              </a:r>
            </a:p>
          </p:txBody>
        </p:sp>
      </p:grpSp>
      <p:sp>
        <p:nvSpPr>
          <p:cNvPr id="34" name="TextBox 34"/>
          <p:cNvSpPr txBox="1"/>
          <p:nvPr/>
        </p:nvSpPr>
        <p:spPr>
          <a:xfrm>
            <a:off x="14437213" y="4976864"/>
            <a:ext cx="2199023" cy="774700"/>
          </a:xfrm>
          <a:prstGeom prst="rect">
            <a:avLst/>
          </a:prstGeom>
        </p:spPr>
        <p:txBody>
          <a:bodyPr lIns="0" tIns="0" rIns="0" bIns="0" rtlCol="0" anchor="t">
            <a:spAutoFit/>
          </a:bodyPr>
          <a:lstStyle/>
          <a:p>
            <a:pPr algn="ctr">
              <a:lnSpc>
                <a:spcPts val="5598"/>
              </a:lnSpc>
            </a:pPr>
            <a:r>
              <a:rPr lang="en-US" sz="3999" b="1">
                <a:solidFill>
                  <a:srgbClr val="2D3880"/>
                </a:solidFill>
                <a:latin typeface="Glacial Indifference Bold"/>
                <a:ea typeface="Glacial Indifference Bold"/>
                <a:cs typeface="Glacial Indifference Bold"/>
                <a:sym typeface="Glacial Indifference Bold"/>
              </a:rPr>
              <a:t>Outputs</a:t>
            </a:r>
          </a:p>
        </p:txBody>
      </p:sp>
      <p:grpSp>
        <p:nvGrpSpPr>
          <p:cNvPr id="35" name="Group 35"/>
          <p:cNvGrpSpPr/>
          <p:nvPr/>
        </p:nvGrpSpPr>
        <p:grpSpPr>
          <a:xfrm>
            <a:off x="4103068" y="7086799"/>
            <a:ext cx="2630723" cy="114300"/>
            <a:chOff x="0" y="0"/>
            <a:chExt cx="3507631" cy="152400"/>
          </a:xfrm>
        </p:grpSpPr>
        <p:sp>
          <p:nvSpPr>
            <p:cNvPr id="36" name="Freeform 36"/>
            <p:cNvSpPr/>
            <p:nvPr/>
          </p:nvSpPr>
          <p:spPr>
            <a:xfrm>
              <a:off x="76200" y="0"/>
              <a:ext cx="3355213" cy="152400"/>
            </a:xfrm>
            <a:custGeom>
              <a:avLst/>
              <a:gdLst/>
              <a:ahLst/>
              <a:cxnLst/>
              <a:rect l="l" t="t" r="r" b="b"/>
              <a:pathLst>
                <a:path w="3355213" h="152400">
                  <a:moveTo>
                    <a:pt x="0" y="0"/>
                  </a:moveTo>
                  <a:lnTo>
                    <a:pt x="3355213" y="0"/>
                  </a:lnTo>
                  <a:lnTo>
                    <a:pt x="3355213" y="152400"/>
                  </a:lnTo>
                  <a:lnTo>
                    <a:pt x="0" y="152400"/>
                  </a:lnTo>
                  <a:close/>
                </a:path>
              </a:pathLst>
            </a:custGeom>
            <a:solidFill>
              <a:srgbClr val="18579C"/>
            </a:solidFill>
          </p:spPr>
          <p:txBody>
            <a:bodyPr/>
            <a:lstStyle/>
            <a:p>
              <a:endParaRPr lang="en-US"/>
            </a:p>
          </p:txBody>
        </p:sp>
      </p:grpSp>
      <p:grpSp>
        <p:nvGrpSpPr>
          <p:cNvPr id="37" name="Group 37"/>
          <p:cNvGrpSpPr/>
          <p:nvPr/>
        </p:nvGrpSpPr>
        <p:grpSpPr>
          <a:xfrm>
            <a:off x="11357734" y="7086799"/>
            <a:ext cx="2375167" cy="114300"/>
            <a:chOff x="0" y="0"/>
            <a:chExt cx="3166889" cy="152400"/>
          </a:xfrm>
        </p:grpSpPr>
        <p:sp>
          <p:nvSpPr>
            <p:cNvPr id="38" name="Freeform 38"/>
            <p:cNvSpPr/>
            <p:nvPr/>
          </p:nvSpPr>
          <p:spPr>
            <a:xfrm>
              <a:off x="76200" y="0"/>
              <a:ext cx="3014472" cy="152400"/>
            </a:xfrm>
            <a:custGeom>
              <a:avLst/>
              <a:gdLst/>
              <a:ahLst/>
              <a:cxnLst/>
              <a:rect l="l" t="t" r="r" b="b"/>
              <a:pathLst>
                <a:path w="3014472" h="152400">
                  <a:moveTo>
                    <a:pt x="0" y="0"/>
                  </a:moveTo>
                  <a:lnTo>
                    <a:pt x="3014472" y="0"/>
                  </a:lnTo>
                  <a:lnTo>
                    <a:pt x="3014472" y="152400"/>
                  </a:lnTo>
                  <a:lnTo>
                    <a:pt x="0" y="152400"/>
                  </a:lnTo>
                  <a:close/>
                </a:path>
              </a:pathLst>
            </a:custGeom>
            <a:solidFill>
              <a:srgbClr val="18579C"/>
            </a:solidFill>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7720899"/>
            <a:ext cx="3045094" cy="2397319"/>
          </a:xfrm>
          <a:custGeom>
            <a:avLst/>
            <a:gdLst/>
            <a:ahLst/>
            <a:cxnLst/>
            <a:rect l="l" t="t" r="r" b="b"/>
            <a:pathLst>
              <a:path w="3045094" h="2397319">
                <a:moveTo>
                  <a:pt x="0" y="2397320"/>
                </a:moveTo>
                <a:lnTo>
                  <a:pt x="3045094" y="2397320"/>
                </a:lnTo>
                <a:lnTo>
                  <a:pt x="3045094" y="0"/>
                </a:lnTo>
                <a:lnTo>
                  <a:pt x="0" y="0"/>
                </a:lnTo>
                <a:lnTo>
                  <a:pt x="0" y="2397320"/>
                </a:lnTo>
                <a:close/>
              </a:path>
            </a:pathLst>
          </a:custGeom>
          <a:blipFill>
            <a:blip r:embed="rId3">
              <a:extLst>
                <a:ext uri="{96DAC541-7B7A-43D3-8B79-37D633B846F1}">
                  <asvg:svgBlip xmlns:asvg="http://schemas.microsoft.com/office/drawing/2016/SVG/main" r:embed="rId4"/>
                </a:ext>
              </a:extLst>
            </a:blip>
            <a:stretch>
              <a:fillRect t="-575" b="-575"/>
            </a:stretch>
          </a:blipFill>
        </p:spPr>
        <p:txBody>
          <a:bodyPr/>
          <a:lstStyle/>
          <a:p>
            <a:endParaRPr lang="en-US"/>
          </a:p>
        </p:txBody>
      </p:sp>
      <p:grpSp>
        <p:nvGrpSpPr>
          <p:cNvPr id="3" name="Group 3"/>
          <p:cNvGrpSpPr/>
          <p:nvPr/>
        </p:nvGrpSpPr>
        <p:grpSpPr>
          <a:xfrm>
            <a:off x="2674382" y="1716183"/>
            <a:ext cx="12939234" cy="3277044"/>
            <a:chOff x="0" y="0"/>
            <a:chExt cx="3407864" cy="826580"/>
          </a:xfrm>
        </p:grpSpPr>
        <p:sp>
          <p:nvSpPr>
            <p:cNvPr id="4" name="Freeform 4"/>
            <p:cNvSpPr/>
            <p:nvPr/>
          </p:nvSpPr>
          <p:spPr>
            <a:xfrm>
              <a:off x="0" y="0"/>
              <a:ext cx="3407864" cy="826580"/>
            </a:xfrm>
            <a:custGeom>
              <a:avLst/>
              <a:gdLst/>
              <a:ahLst/>
              <a:cxnLst/>
              <a:rect l="l" t="t" r="r" b="b"/>
              <a:pathLst>
                <a:path w="3407864" h="826580">
                  <a:moveTo>
                    <a:pt x="29318" y="0"/>
                  </a:moveTo>
                  <a:lnTo>
                    <a:pt x="3378546" y="0"/>
                  </a:lnTo>
                  <a:cubicBezTo>
                    <a:pt x="3394738" y="0"/>
                    <a:pt x="3407864" y="13126"/>
                    <a:pt x="3407864" y="29318"/>
                  </a:cubicBezTo>
                  <a:lnTo>
                    <a:pt x="3407864" y="797262"/>
                  </a:lnTo>
                  <a:cubicBezTo>
                    <a:pt x="3407864" y="813454"/>
                    <a:pt x="3394738" y="826580"/>
                    <a:pt x="3378546" y="826580"/>
                  </a:cubicBezTo>
                  <a:lnTo>
                    <a:pt x="29318" y="826580"/>
                  </a:lnTo>
                  <a:cubicBezTo>
                    <a:pt x="13126" y="826580"/>
                    <a:pt x="0" y="813454"/>
                    <a:pt x="0" y="797262"/>
                  </a:cubicBezTo>
                  <a:lnTo>
                    <a:pt x="0" y="29318"/>
                  </a:lnTo>
                  <a:cubicBezTo>
                    <a:pt x="0" y="13126"/>
                    <a:pt x="13126" y="0"/>
                    <a:pt x="29318" y="0"/>
                  </a:cubicBezTo>
                  <a:close/>
                </a:path>
              </a:pathLst>
            </a:custGeom>
            <a:solidFill>
              <a:srgbClr val="615EDB"/>
            </a:solidFill>
          </p:spPr>
          <p:txBody>
            <a:bodyPr/>
            <a:lstStyle/>
            <a:p>
              <a:endParaRPr lang="en-US"/>
            </a:p>
          </p:txBody>
        </p:sp>
        <p:sp>
          <p:nvSpPr>
            <p:cNvPr id="5" name="TextBox 5"/>
            <p:cNvSpPr txBox="1"/>
            <p:nvPr/>
          </p:nvSpPr>
          <p:spPr>
            <a:xfrm>
              <a:off x="0" y="-180975"/>
              <a:ext cx="3407864" cy="1007555"/>
            </a:xfrm>
            <a:prstGeom prst="rect">
              <a:avLst/>
            </a:prstGeom>
          </p:spPr>
          <p:txBody>
            <a:bodyPr lIns="50800" tIns="50800" rIns="50800" bIns="50800" rtlCol="0" anchor="ctr"/>
            <a:lstStyle/>
            <a:p>
              <a:pPr marL="690882" lvl="1" indent="-345441" algn="just">
                <a:lnSpc>
                  <a:spcPts val="5760"/>
                </a:lnSpc>
                <a:buFont typeface="Arial"/>
                <a:buChar char="•"/>
              </a:pPr>
              <a:r>
                <a:rPr lang="en-US" sz="3200" b="1" dirty="0">
                  <a:solidFill>
                    <a:srgbClr val="FFFFFF"/>
                  </a:solidFill>
                  <a:latin typeface="Glacial Indifference Bold"/>
                  <a:ea typeface="Glacial Indifference Bold"/>
                  <a:cs typeface="Glacial Indifference Bold"/>
                  <a:sym typeface="Glacial Indifference Bold"/>
                </a:rPr>
                <a:t>Survey:</a:t>
              </a:r>
              <a:r>
                <a:rPr lang="en-US" sz="3200" dirty="0">
                  <a:solidFill>
                    <a:srgbClr val="FFFFFF"/>
                  </a:solidFill>
                  <a:latin typeface="Glacial Indifference"/>
                  <a:ea typeface="Glacial Indifference"/>
                  <a:cs typeface="Glacial Indifference"/>
                  <a:sym typeface="Glacial Indifference"/>
                </a:rPr>
                <a:t> Identified frequent conflicts, overcrowding, underutilization</a:t>
              </a:r>
            </a:p>
            <a:p>
              <a:pPr marL="690882" lvl="1" indent="-345441" algn="just">
                <a:lnSpc>
                  <a:spcPts val="5760"/>
                </a:lnSpc>
                <a:buFont typeface="Arial"/>
                <a:buChar char="•"/>
              </a:pPr>
              <a:r>
                <a:rPr lang="en-US" sz="3200" b="1" dirty="0">
                  <a:solidFill>
                    <a:srgbClr val="FFFFFF"/>
                  </a:solidFill>
                  <a:latin typeface="Glacial Indifference Bold"/>
                  <a:ea typeface="Glacial Indifference Bold"/>
                  <a:cs typeface="Glacial Indifference Bold"/>
                  <a:sym typeface="Glacial Indifference Bold"/>
                </a:rPr>
                <a:t>Historical data:</a:t>
              </a:r>
              <a:r>
                <a:rPr lang="en-US" sz="3200" dirty="0">
                  <a:solidFill>
                    <a:srgbClr val="FFFFFF"/>
                  </a:solidFill>
                  <a:latin typeface="Glacial Indifference"/>
                  <a:ea typeface="Glacial Indifference"/>
                  <a:cs typeface="Glacial Indifference"/>
                  <a:sym typeface="Glacial Indifference"/>
                </a:rPr>
                <a:t> Peak demand during exams &amp; semester start</a:t>
              </a:r>
            </a:p>
            <a:p>
              <a:pPr marL="690882" lvl="1" indent="-345441" algn="just">
                <a:lnSpc>
                  <a:spcPts val="5760"/>
                </a:lnSpc>
                <a:buFont typeface="Arial"/>
                <a:buChar char="•"/>
              </a:pPr>
              <a:r>
                <a:rPr lang="en-US" sz="3200" b="1" dirty="0">
                  <a:solidFill>
                    <a:srgbClr val="FFFFFF"/>
                  </a:solidFill>
                  <a:latin typeface="Glacial Indifference Bold"/>
                  <a:ea typeface="Glacial Indifference Bold"/>
                  <a:cs typeface="Glacial Indifference Bold"/>
                  <a:sym typeface="Glacial Indifference Bold"/>
                </a:rPr>
                <a:t>Patterns:</a:t>
              </a:r>
              <a:r>
                <a:rPr lang="en-US" sz="3200" dirty="0">
                  <a:solidFill>
                    <a:srgbClr val="FFFFFF"/>
                  </a:solidFill>
                  <a:latin typeface="Glacial Indifference"/>
                  <a:ea typeface="Glacial Indifference"/>
                  <a:cs typeface="Glacial Indifference"/>
                  <a:sym typeface="Glacial Indifference"/>
                </a:rPr>
                <a:t> Specific halls over-booked, others underused</a:t>
              </a:r>
            </a:p>
            <a:p>
              <a:pPr marL="690882" lvl="1" indent="-345441" algn="just">
                <a:lnSpc>
                  <a:spcPts val="5760"/>
                </a:lnSpc>
                <a:buFont typeface="Arial"/>
                <a:buChar char="•"/>
              </a:pPr>
              <a:r>
                <a:rPr lang="en-US" sz="3200" dirty="0">
                  <a:solidFill>
                    <a:srgbClr val="FFFFFF"/>
                  </a:solidFill>
                  <a:latin typeface="Glacial Indifference"/>
                  <a:ea typeface="Glacial Indifference"/>
                  <a:cs typeface="Glacial Indifference"/>
                  <a:sym typeface="Glacial Indifference"/>
                </a:rPr>
                <a:t>Analysis supported predictive demand modeling</a:t>
              </a:r>
            </a:p>
          </p:txBody>
        </p:sp>
      </p:grpSp>
      <p:sp>
        <p:nvSpPr>
          <p:cNvPr id="6" name="Freeform 6"/>
          <p:cNvSpPr/>
          <p:nvPr/>
        </p:nvSpPr>
        <p:spPr>
          <a:xfrm>
            <a:off x="4664502" y="5133975"/>
            <a:ext cx="8958996" cy="4794638"/>
          </a:xfrm>
          <a:custGeom>
            <a:avLst/>
            <a:gdLst/>
            <a:ahLst/>
            <a:cxnLst/>
            <a:rect l="l" t="t" r="r" b="b"/>
            <a:pathLst>
              <a:path w="8958996" h="4794638">
                <a:moveTo>
                  <a:pt x="0" y="0"/>
                </a:moveTo>
                <a:lnTo>
                  <a:pt x="8958996" y="0"/>
                </a:lnTo>
                <a:lnTo>
                  <a:pt x="8958996" y="4794638"/>
                </a:lnTo>
                <a:lnTo>
                  <a:pt x="0" y="4794638"/>
                </a:lnTo>
                <a:lnTo>
                  <a:pt x="0" y="0"/>
                </a:lnTo>
                <a:close/>
              </a:path>
            </a:pathLst>
          </a:custGeom>
          <a:blipFill>
            <a:blip r:embed="rId5"/>
            <a:stretch>
              <a:fillRect l="-8185" t="-5534" r="-8283" b="-3279"/>
            </a:stretch>
          </a:blipFill>
          <a:ln w="19050" cap="sq">
            <a:solidFill>
              <a:srgbClr val="000000"/>
            </a:solidFill>
            <a:prstDash val="solid"/>
            <a:miter/>
          </a:ln>
        </p:spPr>
        <p:txBody>
          <a:bodyPr/>
          <a:lstStyle/>
          <a:p>
            <a:endParaRPr lang="en-US"/>
          </a:p>
        </p:txBody>
      </p:sp>
      <p:sp>
        <p:nvSpPr>
          <p:cNvPr id="7" name="TextBox 7"/>
          <p:cNvSpPr txBox="1"/>
          <p:nvPr/>
        </p:nvSpPr>
        <p:spPr>
          <a:xfrm>
            <a:off x="6691870" y="348615"/>
            <a:ext cx="4904259" cy="1226820"/>
          </a:xfrm>
          <a:prstGeom prst="rect">
            <a:avLst/>
          </a:prstGeom>
        </p:spPr>
        <p:txBody>
          <a:bodyPr lIns="0" tIns="0" rIns="0" bIns="0" rtlCol="0" anchor="t">
            <a:spAutoFit/>
          </a:bodyPr>
          <a:lstStyle/>
          <a:p>
            <a:pPr algn="ctr">
              <a:lnSpc>
                <a:spcPts val="10080"/>
              </a:lnSpc>
            </a:pPr>
            <a:r>
              <a:rPr lang="en-US" sz="7200" b="1" i="1">
                <a:solidFill>
                  <a:srgbClr val="2D3880"/>
                </a:solidFill>
                <a:latin typeface="Cormorant Garamond Bold Italics"/>
                <a:ea typeface="Cormorant Garamond Bold Italics"/>
                <a:cs typeface="Cormorant Garamond Bold Italics"/>
                <a:sym typeface="Cormorant Garamond Bold Italics"/>
              </a:rPr>
              <a:t>Data Analysis</a:t>
            </a:r>
          </a:p>
        </p:txBody>
      </p:sp>
      <p:sp>
        <p:nvSpPr>
          <p:cNvPr id="8" name="Freeform 8"/>
          <p:cNvSpPr/>
          <p:nvPr/>
        </p:nvSpPr>
        <p:spPr>
          <a:xfrm>
            <a:off x="15514341" y="0"/>
            <a:ext cx="2767352" cy="2767352"/>
          </a:xfrm>
          <a:custGeom>
            <a:avLst/>
            <a:gdLst/>
            <a:ahLst/>
            <a:cxnLst/>
            <a:rect l="l" t="t" r="r" b="b"/>
            <a:pathLst>
              <a:path w="2767352" h="2767352">
                <a:moveTo>
                  <a:pt x="0" y="0"/>
                </a:moveTo>
                <a:lnTo>
                  <a:pt x="2767353" y="0"/>
                </a:lnTo>
                <a:lnTo>
                  <a:pt x="2767353" y="2767352"/>
                </a:lnTo>
                <a:lnTo>
                  <a:pt x="0" y="276735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315022" y="0"/>
            <a:ext cx="3972978" cy="3972978"/>
          </a:xfrm>
          <a:custGeom>
            <a:avLst/>
            <a:gdLst/>
            <a:ahLst/>
            <a:cxnLst/>
            <a:rect l="l" t="t" r="r" b="b"/>
            <a:pathLst>
              <a:path w="3972978" h="3972978">
                <a:moveTo>
                  <a:pt x="0" y="0"/>
                </a:moveTo>
                <a:lnTo>
                  <a:pt x="3972978" y="0"/>
                </a:lnTo>
                <a:lnTo>
                  <a:pt x="3972978" y="3972978"/>
                </a:lnTo>
                <a:lnTo>
                  <a:pt x="0" y="397297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1028700" y="2025994"/>
            <a:ext cx="12992006" cy="703326"/>
            <a:chOff x="0" y="0"/>
            <a:chExt cx="7427949" cy="402114"/>
          </a:xfrm>
        </p:grpSpPr>
        <p:sp>
          <p:nvSpPr>
            <p:cNvPr id="4" name="Freeform 4"/>
            <p:cNvSpPr/>
            <p:nvPr/>
          </p:nvSpPr>
          <p:spPr>
            <a:xfrm>
              <a:off x="0" y="0"/>
              <a:ext cx="7427949" cy="402114"/>
            </a:xfrm>
            <a:custGeom>
              <a:avLst/>
              <a:gdLst/>
              <a:ahLst/>
              <a:cxnLst/>
              <a:rect l="l" t="t" r="r" b="b"/>
              <a:pathLst>
                <a:path w="7427949" h="402114">
                  <a:moveTo>
                    <a:pt x="7224749" y="0"/>
                  </a:moveTo>
                  <a:cubicBezTo>
                    <a:pt x="7336973" y="0"/>
                    <a:pt x="7427949" y="90016"/>
                    <a:pt x="7427949" y="201057"/>
                  </a:cubicBezTo>
                  <a:cubicBezTo>
                    <a:pt x="7427949" y="312098"/>
                    <a:pt x="7336973" y="402114"/>
                    <a:pt x="7224749" y="402114"/>
                  </a:cubicBezTo>
                  <a:lnTo>
                    <a:pt x="203200" y="402114"/>
                  </a:lnTo>
                  <a:cubicBezTo>
                    <a:pt x="90976" y="402114"/>
                    <a:pt x="0" y="312098"/>
                    <a:pt x="0" y="201057"/>
                  </a:cubicBezTo>
                  <a:cubicBezTo>
                    <a:pt x="0" y="90016"/>
                    <a:pt x="90976" y="0"/>
                    <a:pt x="203200" y="0"/>
                  </a:cubicBezTo>
                  <a:close/>
                </a:path>
              </a:pathLst>
            </a:custGeom>
            <a:solidFill>
              <a:srgbClr val="615EDB"/>
            </a:solidFill>
          </p:spPr>
          <p:txBody>
            <a:bodyPr/>
            <a:lstStyle/>
            <a:p>
              <a:endParaRPr lang="en-US"/>
            </a:p>
          </p:txBody>
        </p:sp>
        <p:sp>
          <p:nvSpPr>
            <p:cNvPr id="5" name="TextBox 5"/>
            <p:cNvSpPr txBox="1"/>
            <p:nvPr/>
          </p:nvSpPr>
          <p:spPr>
            <a:xfrm>
              <a:off x="0" y="-66675"/>
              <a:ext cx="7427949" cy="468789"/>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Predictive analytics forecasted demand peaks effectively</a:t>
              </a:r>
            </a:p>
          </p:txBody>
        </p:sp>
      </p:grpSp>
      <p:grpSp>
        <p:nvGrpSpPr>
          <p:cNvPr id="6" name="Group 6"/>
          <p:cNvGrpSpPr/>
          <p:nvPr/>
        </p:nvGrpSpPr>
        <p:grpSpPr>
          <a:xfrm>
            <a:off x="1028700" y="2872195"/>
            <a:ext cx="12992006" cy="703326"/>
            <a:chOff x="0" y="0"/>
            <a:chExt cx="7427949" cy="402114"/>
          </a:xfrm>
        </p:grpSpPr>
        <p:sp>
          <p:nvSpPr>
            <p:cNvPr id="7" name="Freeform 7"/>
            <p:cNvSpPr/>
            <p:nvPr/>
          </p:nvSpPr>
          <p:spPr>
            <a:xfrm>
              <a:off x="0" y="0"/>
              <a:ext cx="7427949" cy="402114"/>
            </a:xfrm>
            <a:custGeom>
              <a:avLst/>
              <a:gdLst/>
              <a:ahLst/>
              <a:cxnLst/>
              <a:rect l="l" t="t" r="r" b="b"/>
              <a:pathLst>
                <a:path w="7427949" h="402114">
                  <a:moveTo>
                    <a:pt x="7224749" y="0"/>
                  </a:moveTo>
                  <a:cubicBezTo>
                    <a:pt x="7336973" y="0"/>
                    <a:pt x="7427949" y="90016"/>
                    <a:pt x="7427949" y="201057"/>
                  </a:cubicBezTo>
                  <a:cubicBezTo>
                    <a:pt x="7427949" y="312098"/>
                    <a:pt x="7336973" y="402114"/>
                    <a:pt x="7224749" y="402114"/>
                  </a:cubicBezTo>
                  <a:lnTo>
                    <a:pt x="203200" y="402114"/>
                  </a:lnTo>
                  <a:cubicBezTo>
                    <a:pt x="90976" y="402114"/>
                    <a:pt x="0" y="312098"/>
                    <a:pt x="0" y="201057"/>
                  </a:cubicBezTo>
                  <a:cubicBezTo>
                    <a:pt x="0" y="90016"/>
                    <a:pt x="90976" y="0"/>
                    <a:pt x="203200" y="0"/>
                  </a:cubicBezTo>
                  <a:close/>
                </a:path>
              </a:pathLst>
            </a:custGeom>
            <a:solidFill>
              <a:srgbClr val="615EDB"/>
            </a:solidFill>
          </p:spPr>
          <p:txBody>
            <a:bodyPr/>
            <a:lstStyle/>
            <a:p>
              <a:endParaRPr lang="en-US"/>
            </a:p>
          </p:txBody>
        </p:sp>
        <p:sp>
          <p:nvSpPr>
            <p:cNvPr id="8" name="TextBox 8"/>
            <p:cNvSpPr txBox="1"/>
            <p:nvPr/>
          </p:nvSpPr>
          <p:spPr>
            <a:xfrm>
              <a:off x="0" y="-66675"/>
              <a:ext cx="7427949" cy="468789"/>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Improved hall utilization compared to UMIS</a:t>
              </a:r>
            </a:p>
          </p:txBody>
        </p:sp>
      </p:grpSp>
      <p:grpSp>
        <p:nvGrpSpPr>
          <p:cNvPr id="9" name="Group 9"/>
          <p:cNvGrpSpPr/>
          <p:nvPr/>
        </p:nvGrpSpPr>
        <p:grpSpPr>
          <a:xfrm>
            <a:off x="1028700" y="3718396"/>
            <a:ext cx="12992006" cy="703326"/>
            <a:chOff x="0" y="0"/>
            <a:chExt cx="7427949" cy="402114"/>
          </a:xfrm>
        </p:grpSpPr>
        <p:sp>
          <p:nvSpPr>
            <p:cNvPr id="10" name="Freeform 10"/>
            <p:cNvSpPr/>
            <p:nvPr/>
          </p:nvSpPr>
          <p:spPr>
            <a:xfrm>
              <a:off x="0" y="0"/>
              <a:ext cx="7427949" cy="402114"/>
            </a:xfrm>
            <a:custGeom>
              <a:avLst/>
              <a:gdLst/>
              <a:ahLst/>
              <a:cxnLst/>
              <a:rect l="l" t="t" r="r" b="b"/>
              <a:pathLst>
                <a:path w="7427949" h="402114">
                  <a:moveTo>
                    <a:pt x="7224749" y="0"/>
                  </a:moveTo>
                  <a:cubicBezTo>
                    <a:pt x="7336973" y="0"/>
                    <a:pt x="7427949" y="90016"/>
                    <a:pt x="7427949" y="201057"/>
                  </a:cubicBezTo>
                  <a:cubicBezTo>
                    <a:pt x="7427949" y="312098"/>
                    <a:pt x="7336973" y="402114"/>
                    <a:pt x="7224749" y="402114"/>
                  </a:cubicBezTo>
                  <a:lnTo>
                    <a:pt x="203200" y="402114"/>
                  </a:lnTo>
                  <a:cubicBezTo>
                    <a:pt x="90976" y="402114"/>
                    <a:pt x="0" y="312098"/>
                    <a:pt x="0" y="201057"/>
                  </a:cubicBezTo>
                  <a:cubicBezTo>
                    <a:pt x="0" y="90016"/>
                    <a:pt x="90976" y="0"/>
                    <a:pt x="203200" y="0"/>
                  </a:cubicBezTo>
                  <a:close/>
                </a:path>
              </a:pathLst>
            </a:custGeom>
            <a:solidFill>
              <a:srgbClr val="615EDB"/>
            </a:solidFill>
          </p:spPr>
          <p:txBody>
            <a:bodyPr/>
            <a:lstStyle/>
            <a:p>
              <a:endParaRPr lang="en-US"/>
            </a:p>
          </p:txBody>
        </p:sp>
        <p:sp>
          <p:nvSpPr>
            <p:cNvPr id="11" name="TextBox 11"/>
            <p:cNvSpPr txBox="1"/>
            <p:nvPr/>
          </p:nvSpPr>
          <p:spPr>
            <a:xfrm>
              <a:off x="0" y="-66675"/>
              <a:ext cx="7427949" cy="468789"/>
            </a:xfrm>
            <a:prstGeom prst="rect">
              <a:avLst/>
            </a:prstGeom>
          </p:spPr>
          <p:txBody>
            <a:bodyPr lIns="50800" tIns="50800" rIns="50800" bIns="50800" rtlCol="0" anchor="ctr"/>
            <a:lstStyle/>
            <a:p>
              <a:pPr marL="755641" lvl="1" indent="-377820" algn="l">
                <a:lnSpc>
                  <a:spcPts val="4899"/>
                </a:lnSpc>
                <a:buFont typeface="Arial"/>
                <a:buChar char="•"/>
              </a:pPr>
              <a:r>
                <a:rPr lang="en-US" sz="3499">
                  <a:solidFill>
                    <a:srgbClr val="FFFFFF"/>
                  </a:solidFill>
                  <a:latin typeface="Glacial Indifference"/>
                  <a:ea typeface="Glacial Indifference"/>
                  <a:cs typeface="Glacial Indifference"/>
                  <a:sym typeface="Glacial Indifference"/>
                </a:rPr>
                <a:t>Genetic algorithm optimized timetables → minimized conflicts</a:t>
              </a:r>
            </a:p>
          </p:txBody>
        </p:sp>
      </p:grpSp>
      <p:grpSp>
        <p:nvGrpSpPr>
          <p:cNvPr id="12" name="Group 12"/>
          <p:cNvGrpSpPr/>
          <p:nvPr/>
        </p:nvGrpSpPr>
        <p:grpSpPr>
          <a:xfrm>
            <a:off x="1028700" y="4839659"/>
            <a:ext cx="4964995" cy="4964995"/>
            <a:chOff x="0" y="0"/>
            <a:chExt cx="812800" cy="812800"/>
          </a:xfrm>
        </p:grpSpPr>
        <p:sp>
          <p:nvSpPr>
            <p:cNvPr id="13" name="Freeform 13"/>
            <p:cNvSpPr/>
            <p:nvPr/>
          </p:nvSpPr>
          <p:spPr>
            <a:xfrm>
              <a:off x="0" y="0"/>
              <a:ext cx="812800" cy="812800"/>
            </a:xfrm>
            <a:custGeom>
              <a:avLst/>
              <a:gdLst/>
              <a:ahLst/>
              <a:cxnLst/>
              <a:rect l="l" t="t" r="r" b="b"/>
              <a:pathLst>
                <a:path w="812800" h="812800">
                  <a:moveTo>
                    <a:pt x="35864" y="0"/>
                  </a:moveTo>
                  <a:lnTo>
                    <a:pt x="776936" y="0"/>
                  </a:lnTo>
                  <a:cubicBezTo>
                    <a:pt x="796743" y="0"/>
                    <a:pt x="812800" y="16057"/>
                    <a:pt x="812800" y="35864"/>
                  </a:cubicBezTo>
                  <a:lnTo>
                    <a:pt x="812800" y="776936"/>
                  </a:lnTo>
                  <a:cubicBezTo>
                    <a:pt x="812800" y="796743"/>
                    <a:pt x="796743" y="812800"/>
                    <a:pt x="776936" y="812800"/>
                  </a:cubicBezTo>
                  <a:lnTo>
                    <a:pt x="35864" y="812800"/>
                  </a:lnTo>
                  <a:cubicBezTo>
                    <a:pt x="16057" y="812800"/>
                    <a:pt x="0" y="796743"/>
                    <a:pt x="0" y="776936"/>
                  </a:cubicBezTo>
                  <a:lnTo>
                    <a:pt x="0" y="35864"/>
                  </a:lnTo>
                  <a:cubicBezTo>
                    <a:pt x="0" y="16057"/>
                    <a:pt x="16057" y="0"/>
                    <a:pt x="35864" y="0"/>
                  </a:cubicBezTo>
                  <a:close/>
                </a:path>
              </a:pathLst>
            </a:custGeom>
            <a:blipFill>
              <a:blip r:embed="rId5"/>
              <a:stretch>
                <a:fillRect l="-34805" r="-34805"/>
              </a:stretch>
            </a:blipFill>
          </p:spPr>
          <p:txBody>
            <a:bodyPr/>
            <a:lstStyle/>
            <a:p>
              <a:endParaRPr lang="en-US"/>
            </a:p>
          </p:txBody>
        </p:sp>
      </p:grpSp>
      <p:grpSp>
        <p:nvGrpSpPr>
          <p:cNvPr id="14" name="Group 14"/>
          <p:cNvGrpSpPr/>
          <p:nvPr/>
        </p:nvGrpSpPr>
        <p:grpSpPr>
          <a:xfrm>
            <a:off x="6628529" y="4839659"/>
            <a:ext cx="4964995" cy="4964995"/>
            <a:chOff x="0" y="0"/>
            <a:chExt cx="812800" cy="812800"/>
          </a:xfrm>
        </p:grpSpPr>
        <p:sp>
          <p:nvSpPr>
            <p:cNvPr id="15" name="Freeform 15"/>
            <p:cNvSpPr/>
            <p:nvPr/>
          </p:nvSpPr>
          <p:spPr>
            <a:xfrm>
              <a:off x="0" y="0"/>
              <a:ext cx="812800" cy="812800"/>
            </a:xfrm>
            <a:custGeom>
              <a:avLst/>
              <a:gdLst/>
              <a:ahLst/>
              <a:cxnLst/>
              <a:rect l="l" t="t" r="r" b="b"/>
              <a:pathLst>
                <a:path w="812800" h="812800">
                  <a:moveTo>
                    <a:pt x="35864" y="0"/>
                  </a:moveTo>
                  <a:lnTo>
                    <a:pt x="776936" y="0"/>
                  </a:lnTo>
                  <a:cubicBezTo>
                    <a:pt x="796743" y="0"/>
                    <a:pt x="812800" y="16057"/>
                    <a:pt x="812800" y="35864"/>
                  </a:cubicBezTo>
                  <a:lnTo>
                    <a:pt x="812800" y="776936"/>
                  </a:lnTo>
                  <a:cubicBezTo>
                    <a:pt x="812800" y="796743"/>
                    <a:pt x="796743" y="812800"/>
                    <a:pt x="776936" y="812800"/>
                  </a:cubicBezTo>
                  <a:lnTo>
                    <a:pt x="35864" y="812800"/>
                  </a:lnTo>
                  <a:cubicBezTo>
                    <a:pt x="16057" y="812800"/>
                    <a:pt x="0" y="796743"/>
                    <a:pt x="0" y="776936"/>
                  </a:cubicBezTo>
                  <a:lnTo>
                    <a:pt x="0" y="35864"/>
                  </a:lnTo>
                  <a:cubicBezTo>
                    <a:pt x="0" y="16057"/>
                    <a:pt x="16057" y="0"/>
                    <a:pt x="35864" y="0"/>
                  </a:cubicBezTo>
                  <a:close/>
                </a:path>
              </a:pathLst>
            </a:custGeom>
            <a:blipFill>
              <a:blip r:embed="rId6"/>
              <a:stretch>
                <a:fillRect l="-24960" r="-24960"/>
              </a:stretch>
            </a:blipFill>
          </p:spPr>
          <p:txBody>
            <a:bodyPr/>
            <a:lstStyle/>
            <a:p>
              <a:endParaRPr lang="en-US"/>
            </a:p>
          </p:txBody>
        </p:sp>
      </p:grpSp>
      <p:grpSp>
        <p:nvGrpSpPr>
          <p:cNvPr id="16" name="Group 16"/>
          <p:cNvGrpSpPr/>
          <p:nvPr/>
        </p:nvGrpSpPr>
        <p:grpSpPr>
          <a:xfrm>
            <a:off x="12231699" y="4839659"/>
            <a:ext cx="4964995" cy="4964995"/>
            <a:chOff x="0" y="0"/>
            <a:chExt cx="812800" cy="812800"/>
          </a:xfrm>
        </p:grpSpPr>
        <p:sp>
          <p:nvSpPr>
            <p:cNvPr id="17" name="Freeform 17"/>
            <p:cNvSpPr/>
            <p:nvPr/>
          </p:nvSpPr>
          <p:spPr>
            <a:xfrm>
              <a:off x="0" y="0"/>
              <a:ext cx="812800" cy="812800"/>
            </a:xfrm>
            <a:custGeom>
              <a:avLst/>
              <a:gdLst/>
              <a:ahLst/>
              <a:cxnLst/>
              <a:rect l="l" t="t" r="r" b="b"/>
              <a:pathLst>
                <a:path w="812800" h="812800">
                  <a:moveTo>
                    <a:pt x="35864" y="0"/>
                  </a:moveTo>
                  <a:lnTo>
                    <a:pt x="776936" y="0"/>
                  </a:lnTo>
                  <a:cubicBezTo>
                    <a:pt x="796743" y="0"/>
                    <a:pt x="812800" y="16057"/>
                    <a:pt x="812800" y="35864"/>
                  </a:cubicBezTo>
                  <a:lnTo>
                    <a:pt x="812800" y="776936"/>
                  </a:lnTo>
                  <a:cubicBezTo>
                    <a:pt x="812800" y="796743"/>
                    <a:pt x="796743" y="812800"/>
                    <a:pt x="776936" y="812800"/>
                  </a:cubicBezTo>
                  <a:lnTo>
                    <a:pt x="35864" y="812800"/>
                  </a:lnTo>
                  <a:cubicBezTo>
                    <a:pt x="16057" y="812800"/>
                    <a:pt x="0" y="796743"/>
                    <a:pt x="0" y="776936"/>
                  </a:cubicBezTo>
                  <a:lnTo>
                    <a:pt x="0" y="35864"/>
                  </a:lnTo>
                  <a:cubicBezTo>
                    <a:pt x="0" y="16057"/>
                    <a:pt x="16057" y="0"/>
                    <a:pt x="35864" y="0"/>
                  </a:cubicBezTo>
                  <a:close/>
                </a:path>
              </a:pathLst>
            </a:custGeom>
            <a:blipFill>
              <a:blip r:embed="rId7"/>
              <a:stretch>
                <a:fillRect l="-34355" r="-34355"/>
              </a:stretch>
            </a:blipFill>
          </p:spPr>
          <p:txBody>
            <a:bodyPr/>
            <a:lstStyle/>
            <a:p>
              <a:endParaRPr lang="en-US"/>
            </a:p>
          </p:txBody>
        </p:sp>
      </p:grpSp>
      <p:sp>
        <p:nvSpPr>
          <p:cNvPr id="18" name="TextBox 18"/>
          <p:cNvSpPr txBox="1"/>
          <p:nvPr/>
        </p:nvSpPr>
        <p:spPr>
          <a:xfrm>
            <a:off x="7914333" y="733044"/>
            <a:ext cx="2459335" cy="1135380"/>
          </a:xfrm>
          <a:prstGeom prst="rect">
            <a:avLst/>
          </a:prstGeom>
        </p:spPr>
        <p:txBody>
          <a:bodyPr lIns="0" tIns="0" rIns="0" bIns="0" rtlCol="0" anchor="t">
            <a:spAutoFit/>
          </a:bodyPr>
          <a:lstStyle/>
          <a:p>
            <a:pPr algn="l">
              <a:lnSpc>
                <a:spcPts val="9000"/>
              </a:lnSpc>
            </a:pPr>
            <a:r>
              <a:rPr lang="en-US" sz="7200" b="1" i="1">
                <a:solidFill>
                  <a:srgbClr val="2D3880"/>
                </a:solidFill>
                <a:latin typeface="Cormorant Garamond Bold Italics"/>
                <a:ea typeface="Cormorant Garamond Bold Italics"/>
                <a:cs typeface="Cormorant Garamond Bold Italics"/>
                <a:sym typeface="Cormorant Garamond Bold Italics"/>
              </a:rPr>
              <a:t>Results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800000">
            <a:off x="67780" y="136161"/>
            <a:ext cx="18278475" cy="10601515"/>
          </a:xfrm>
          <a:custGeom>
            <a:avLst/>
            <a:gdLst/>
            <a:ahLst/>
            <a:cxnLst/>
            <a:rect l="l" t="t" r="r" b="b"/>
            <a:pathLst>
              <a:path w="18278475" h="10601515">
                <a:moveTo>
                  <a:pt x="0" y="0"/>
                </a:moveTo>
                <a:lnTo>
                  <a:pt x="18278475" y="0"/>
                </a:lnTo>
                <a:lnTo>
                  <a:pt x="18278475" y="10601515"/>
                </a:lnTo>
                <a:lnTo>
                  <a:pt x="0" y="10601515"/>
                </a:lnTo>
                <a:lnTo>
                  <a:pt x="0" y="0"/>
                </a:lnTo>
                <a:close/>
              </a:path>
            </a:pathLst>
          </a:custGeom>
          <a:blipFill>
            <a:blip r:embed="rId3">
              <a:alphaModFix amt="27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flipH="1">
            <a:off x="15019686" y="9525"/>
            <a:ext cx="3258789" cy="2565556"/>
          </a:xfrm>
          <a:custGeom>
            <a:avLst/>
            <a:gdLst/>
            <a:ahLst/>
            <a:cxnLst/>
            <a:rect l="l" t="t" r="r" b="b"/>
            <a:pathLst>
              <a:path w="3258789" h="2565556">
                <a:moveTo>
                  <a:pt x="3258789" y="0"/>
                </a:moveTo>
                <a:lnTo>
                  <a:pt x="0" y="0"/>
                </a:lnTo>
                <a:lnTo>
                  <a:pt x="0" y="2565556"/>
                </a:lnTo>
                <a:lnTo>
                  <a:pt x="3258789" y="2565556"/>
                </a:lnTo>
                <a:lnTo>
                  <a:pt x="3258789"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 name="Group 4"/>
          <p:cNvGrpSpPr/>
          <p:nvPr/>
        </p:nvGrpSpPr>
        <p:grpSpPr>
          <a:xfrm>
            <a:off x="1819009" y="2311848"/>
            <a:ext cx="14991996" cy="6551991"/>
            <a:chOff x="0" y="0"/>
            <a:chExt cx="3948509" cy="1725627"/>
          </a:xfrm>
        </p:grpSpPr>
        <p:sp>
          <p:nvSpPr>
            <p:cNvPr id="5" name="Freeform 5"/>
            <p:cNvSpPr/>
            <p:nvPr/>
          </p:nvSpPr>
          <p:spPr>
            <a:xfrm>
              <a:off x="0" y="0"/>
              <a:ext cx="3948509" cy="1725627"/>
            </a:xfrm>
            <a:custGeom>
              <a:avLst/>
              <a:gdLst/>
              <a:ahLst/>
              <a:cxnLst/>
              <a:rect l="l" t="t" r="r" b="b"/>
              <a:pathLst>
                <a:path w="3948509" h="1725627">
                  <a:moveTo>
                    <a:pt x="24271" y="0"/>
                  </a:moveTo>
                  <a:lnTo>
                    <a:pt x="3924238" y="0"/>
                  </a:lnTo>
                  <a:cubicBezTo>
                    <a:pt x="3930676" y="0"/>
                    <a:pt x="3936849" y="2557"/>
                    <a:pt x="3941401" y="7109"/>
                  </a:cubicBezTo>
                  <a:cubicBezTo>
                    <a:pt x="3945952" y="11660"/>
                    <a:pt x="3948509" y="17834"/>
                    <a:pt x="3948509" y="24271"/>
                  </a:cubicBezTo>
                  <a:lnTo>
                    <a:pt x="3948509" y="1701356"/>
                  </a:lnTo>
                  <a:cubicBezTo>
                    <a:pt x="3948509" y="1707793"/>
                    <a:pt x="3945952" y="1713967"/>
                    <a:pt x="3941401" y="1718519"/>
                  </a:cubicBezTo>
                  <a:cubicBezTo>
                    <a:pt x="3936849" y="1723070"/>
                    <a:pt x="3930676" y="1725627"/>
                    <a:pt x="3924238" y="1725627"/>
                  </a:cubicBezTo>
                  <a:lnTo>
                    <a:pt x="24271" y="1725627"/>
                  </a:lnTo>
                  <a:cubicBezTo>
                    <a:pt x="10866" y="1725627"/>
                    <a:pt x="0" y="1714761"/>
                    <a:pt x="0" y="1701356"/>
                  </a:cubicBezTo>
                  <a:lnTo>
                    <a:pt x="0" y="24271"/>
                  </a:lnTo>
                  <a:cubicBezTo>
                    <a:pt x="0" y="17834"/>
                    <a:pt x="2557" y="11660"/>
                    <a:pt x="7109" y="7109"/>
                  </a:cubicBezTo>
                  <a:cubicBezTo>
                    <a:pt x="11660" y="2557"/>
                    <a:pt x="17834" y="0"/>
                    <a:pt x="24271" y="0"/>
                  </a:cubicBezTo>
                  <a:close/>
                </a:path>
              </a:pathLst>
            </a:custGeom>
            <a:solidFill>
              <a:srgbClr val="615EDB">
                <a:alpha val="86667"/>
              </a:srgbClr>
            </a:solidFill>
          </p:spPr>
          <p:txBody>
            <a:bodyPr/>
            <a:lstStyle/>
            <a:p>
              <a:endParaRPr lang="en-US"/>
            </a:p>
          </p:txBody>
        </p:sp>
        <p:sp>
          <p:nvSpPr>
            <p:cNvPr id="6" name="TextBox 6"/>
            <p:cNvSpPr txBox="1"/>
            <p:nvPr/>
          </p:nvSpPr>
          <p:spPr>
            <a:xfrm>
              <a:off x="0" y="-85725"/>
              <a:ext cx="3948509" cy="1811352"/>
            </a:xfrm>
            <a:prstGeom prst="rect">
              <a:avLst/>
            </a:prstGeom>
          </p:spPr>
          <p:txBody>
            <a:bodyPr lIns="50800" tIns="50800" rIns="50800" bIns="50800" rtlCol="0" anchor="ctr"/>
            <a:lstStyle/>
            <a:p>
              <a:pPr algn="ctr">
                <a:lnSpc>
                  <a:spcPts val="6299"/>
                </a:lnSpc>
              </a:pPr>
              <a:endParaRPr/>
            </a:p>
          </p:txBody>
        </p:sp>
      </p:grpSp>
      <p:sp>
        <p:nvSpPr>
          <p:cNvPr id="7" name="TextBox 7"/>
          <p:cNvSpPr txBox="1"/>
          <p:nvPr/>
        </p:nvSpPr>
        <p:spPr>
          <a:xfrm>
            <a:off x="2258138" y="2924986"/>
            <a:ext cx="14113740" cy="4776216"/>
          </a:xfrm>
          <a:prstGeom prst="rect">
            <a:avLst/>
          </a:prstGeom>
        </p:spPr>
        <p:txBody>
          <a:bodyPr lIns="0" tIns="0" rIns="0" bIns="0" rtlCol="0" anchor="t">
            <a:spAutoFit/>
          </a:bodyPr>
          <a:lstStyle/>
          <a:p>
            <a:pPr marL="690881" lvl="1" indent="-345440" algn="l">
              <a:lnSpc>
                <a:spcPts val="6432"/>
              </a:lnSpc>
              <a:buFont typeface="Arial"/>
              <a:buChar char="•"/>
            </a:pPr>
            <a:r>
              <a:rPr lang="en-US" sz="3200">
                <a:solidFill>
                  <a:srgbClr val="FFFFFF"/>
                </a:solidFill>
                <a:latin typeface="Canva Sans"/>
                <a:ea typeface="Canva Sans"/>
                <a:cs typeface="Canva Sans"/>
                <a:sym typeface="Canva Sans"/>
              </a:rPr>
              <a:t>Research objectives achieved: Predictive, optimized hall allocation</a:t>
            </a:r>
          </a:p>
          <a:p>
            <a:pPr marL="690881" lvl="1" indent="-345440" algn="l">
              <a:lnSpc>
                <a:spcPts val="6432"/>
              </a:lnSpc>
              <a:buFont typeface="Arial"/>
              <a:buChar char="•"/>
            </a:pPr>
            <a:r>
              <a:rPr lang="en-US" sz="3200">
                <a:solidFill>
                  <a:srgbClr val="FFFFFF"/>
                </a:solidFill>
                <a:latin typeface="Canva Sans"/>
                <a:ea typeface="Canva Sans"/>
                <a:cs typeface="Canva Sans"/>
                <a:sym typeface="Canva Sans"/>
              </a:rPr>
              <a:t>Problems addressed: Inefficiency, conflicts, and underutilization</a:t>
            </a:r>
          </a:p>
          <a:p>
            <a:pPr marL="690881" lvl="1" indent="-345440" algn="l">
              <a:lnSpc>
                <a:spcPts val="6432"/>
              </a:lnSpc>
              <a:buFont typeface="Arial"/>
              <a:buChar char="•"/>
            </a:pPr>
            <a:r>
              <a:rPr lang="en-US" sz="3200">
                <a:solidFill>
                  <a:srgbClr val="FFFFFF"/>
                </a:solidFill>
                <a:latin typeface="Canva Sans"/>
                <a:ea typeface="Canva Sans"/>
                <a:cs typeface="Canva Sans"/>
                <a:sym typeface="Canva Sans"/>
              </a:rPr>
              <a:t>Contribution: Scalable AI-based framework for universities</a:t>
            </a:r>
          </a:p>
          <a:p>
            <a:pPr marL="690881" lvl="1" indent="-345440" algn="l">
              <a:lnSpc>
                <a:spcPts val="6432"/>
              </a:lnSpc>
              <a:buFont typeface="Arial"/>
              <a:buChar char="•"/>
            </a:pPr>
            <a:r>
              <a:rPr lang="en-US" sz="3200">
                <a:solidFill>
                  <a:srgbClr val="FFFFFF"/>
                </a:solidFill>
                <a:latin typeface="Canva Sans"/>
                <a:ea typeface="Canva Sans"/>
                <a:cs typeface="Canva Sans"/>
                <a:sym typeface="Canva Sans"/>
              </a:rPr>
              <a:t>Business Insight: Applicable to corporates, hospitals, events</a:t>
            </a:r>
          </a:p>
          <a:p>
            <a:pPr marL="690881" lvl="1" indent="-345440" algn="l">
              <a:lnSpc>
                <a:spcPts val="6432"/>
              </a:lnSpc>
              <a:buFont typeface="Arial"/>
              <a:buChar char="•"/>
            </a:pPr>
            <a:r>
              <a:rPr lang="en-US" sz="3200">
                <a:solidFill>
                  <a:srgbClr val="FFFFFF"/>
                </a:solidFill>
                <a:latin typeface="Canva Sans"/>
                <a:ea typeface="Canva Sans"/>
                <a:cs typeface="Canva Sans"/>
                <a:sym typeface="Canva Sans"/>
              </a:rPr>
              <a:t>Future Work: Backend integration, mobile app, advanced ML models</a:t>
            </a:r>
          </a:p>
          <a:p>
            <a:pPr algn="l">
              <a:lnSpc>
                <a:spcPts val="6432"/>
              </a:lnSpc>
            </a:pPr>
            <a:endParaRPr lang="en-US" sz="3200">
              <a:solidFill>
                <a:srgbClr val="FFFFFF"/>
              </a:solidFill>
              <a:latin typeface="Canva Sans"/>
              <a:ea typeface="Canva Sans"/>
              <a:cs typeface="Canva Sans"/>
              <a:sym typeface="Canva Sans"/>
            </a:endParaRPr>
          </a:p>
        </p:txBody>
      </p:sp>
      <p:sp>
        <p:nvSpPr>
          <p:cNvPr id="8" name="Freeform 8"/>
          <p:cNvSpPr/>
          <p:nvPr/>
        </p:nvSpPr>
        <p:spPr>
          <a:xfrm>
            <a:off x="7122328" y="3244239"/>
            <a:ext cx="4385359" cy="4385359"/>
          </a:xfrm>
          <a:custGeom>
            <a:avLst/>
            <a:gdLst/>
            <a:ahLst/>
            <a:cxnLst/>
            <a:rect l="l" t="t" r="r" b="b"/>
            <a:pathLst>
              <a:path w="4385359" h="4385359">
                <a:moveTo>
                  <a:pt x="0" y="0"/>
                </a:moveTo>
                <a:lnTo>
                  <a:pt x="4385359" y="0"/>
                </a:lnTo>
                <a:lnTo>
                  <a:pt x="4385359" y="4385359"/>
                </a:lnTo>
                <a:lnTo>
                  <a:pt x="0" y="4385359"/>
                </a:lnTo>
                <a:lnTo>
                  <a:pt x="0" y="0"/>
                </a:lnTo>
                <a:close/>
              </a:path>
            </a:pathLst>
          </a:custGeom>
          <a:blipFill>
            <a:blip r:embed="rId7">
              <a:alphaModFix amt="3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9" name="TextBox 9"/>
          <p:cNvSpPr txBox="1"/>
          <p:nvPr/>
        </p:nvSpPr>
        <p:spPr>
          <a:xfrm>
            <a:off x="7213723" y="895350"/>
            <a:ext cx="3860555" cy="1266825"/>
          </a:xfrm>
          <a:prstGeom prst="rect">
            <a:avLst/>
          </a:prstGeom>
        </p:spPr>
        <p:txBody>
          <a:bodyPr lIns="0" tIns="0" rIns="0" bIns="0" rtlCol="0" anchor="t">
            <a:spAutoFit/>
          </a:bodyPr>
          <a:lstStyle/>
          <a:p>
            <a:pPr marL="0" lvl="0" indent="0" algn="l">
              <a:lnSpc>
                <a:spcPts val="10499"/>
              </a:lnSpc>
              <a:spcBef>
                <a:spcPct val="0"/>
              </a:spcBef>
            </a:pPr>
            <a:r>
              <a:rPr lang="en-US" sz="7499" b="1" i="1">
                <a:solidFill>
                  <a:srgbClr val="2D3880"/>
                </a:solidFill>
                <a:latin typeface="Cormorant Garamond Bold Italics"/>
                <a:ea typeface="Cormorant Garamond Bold Italics"/>
                <a:cs typeface="Cormorant Garamond Bold Italics"/>
                <a:sym typeface="Cormorant Garamond Bold Italics"/>
              </a:rPr>
              <a:t>Conclusion</a:t>
            </a:r>
          </a:p>
        </p:txBody>
      </p:sp>
      <p:sp>
        <p:nvSpPr>
          <p:cNvPr id="10" name="Freeform 10"/>
          <p:cNvSpPr/>
          <p:nvPr/>
        </p:nvSpPr>
        <p:spPr>
          <a:xfrm>
            <a:off x="67780" y="6956887"/>
            <a:ext cx="3559609" cy="3301538"/>
          </a:xfrm>
          <a:custGeom>
            <a:avLst/>
            <a:gdLst/>
            <a:ahLst/>
            <a:cxnLst/>
            <a:rect l="l" t="t" r="r" b="b"/>
            <a:pathLst>
              <a:path w="3559609" h="3301538">
                <a:moveTo>
                  <a:pt x="0" y="0"/>
                </a:moveTo>
                <a:lnTo>
                  <a:pt x="3559609" y="0"/>
                </a:lnTo>
                <a:lnTo>
                  <a:pt x="3559609" y="3301538"/>
                </a:lnTo>
                <a:lnTo>
                  <a:pt x="0" y="330153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1" name="Freeform 11"/>
          <p:cNvSpPr/>
          <p:nvPr/>
        </p:nvSpPr>
        <p:spPr>
          <a:xfrm>
            <a:off x="1841884" y="6956887"/>
            <a:ext cx="1710763" cy="1894060"/>
          </a:xfrm>
          <a:custGeom>
            <a:avLst/>
            <a:gdLst/>
            <a:ahLst/>
            <a:cxnLst/>
            <a:rect l="l" t="t" r="r" b="b"/>
            <a:pathLst>
              <a:path w="1710763" h="1894060">
                <a:moveTo>
                  <a:pt x="0" y="0"/>
                </a:moveTo>
                <a:lnTo>
                  <a:pt x="1710763" y="0"/>
                </a:lnTo>
                <a:lnTo>
                  <a:pt x="1710763" y="1894060"/>
                </a:lnTo>
                <a:lnTo>
                  <a:pt x="0" y="1894060"/>
                </a:lnTo>
                <a:lnTo>
                  <a:pt x="0" y="0"/>
                </a:lnTo>
                <a:close/>
              </a:path>
            </a:pathLst>
          </a:custGeom>
          <a:blipFill>
            <a:blip r:embed="rId11">
              <a:extLst>
                <a:ext uri="{96DAC541-7B7A-43D3-8B79-37D633B846F1}">
                  <asvg:svgBlip xmlns:asvg="http://schemas.microsoft.com/office/drawing/2016/SVG/main" r:embed="rId12"/>
                </a:ext>
              </a:extLst>
            </a:blip>
            <a:stretch>
              <a:fillRect l="-103702" r="-4368" b="-74310"/>
            </a:stretch>
          </a:blipFill>
        </p:spPr>
        <p:txBody>
          <a:bodyPr/>
          <a:lstStyle/>
          <a:p>
            <a:endParaRPr lang="en-US"/>
          </a:p>
        </p:txBody>
      </p:sp>
      <p:sp>
        <p:nvSpPr>
          <p:cNvPr id="12" name="Freeform 12"/>
          <p:cNvSpPr/>
          <p:nvPr/>
        </p:nvSpPr>
        <p:spPr>
          <a:xfrm>
            <a:off x="708349" y="7629598"/>
            <a:ext cx="17213316" cy="9983724"/>
          </a:xfrm>
          <a:custGeom>
            <a:avLst/>
            <a:gdLst/>
            <a:ahLst/>
            <a:cxnLst/>
            <a:rect l="l" t="t" r="r" b="b"/>
            <a:pathLst>
              <a:path w="17213316" h="9983724">
                <a:moveTo>
                  <a:pt x="0" y="0"/>
                </a:moveTo>
                <a:lnTo>
                  <a:pt x="17213317" y="0"/>
                </a:lnTo>
                <a:lnTo>
                  <a:pt x="17213317" y="9983724"/>
                </a:lnTo>
                <a:lnTo>
                  <a:pt x="0" y="9983724"/>
                </a:lnTo>
                <a:lnTo>
                  <a:pt x="0" y="0"/>
                </a:lnTo>
                <a:close/>
              </a:path>
            </a:pathLst>
          </a:custGeom>
          <a:blipFill>
            <a:blip r:embed="rId3">
              <a:alphaModFix amt="27000"/>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58600" y="1606468"/>
            <a:ext cx="2832653" cy="2832653"/>
            <a:chOff x="0" y="0"/>
            <a:chExt cx="3776871" cy="3776871"/>
          </a:xfrm>
        </p:grpSpPr>
        <p:sp>
          <p:nvSpPr>
            <p:cNvPr id="3" name="Freeform 3"/>
            <p:cNvSpPr/>
            <p:nvPr/>
          </p:nvSpPr>
          <p:spPr>
            <a:xfrm>
              <a:off x="0" y="0"/>
              <a:ext cx="3776853" cy="3776853"/>
            </a:xfrm>
            <a:custGeom>
              <a:avLst/>
              <a:gdLst/>
              <a:ahLst/>
              <a:cxnLst/>
              <a:rect l="l" t="t" r="r" b="b"/>
              <a:pathLst>
                <a:path w="3776853" h="3776853">
                  <a:moveTo>
                    <a:pt x="0" y="0"/>
                  </a:moveTo>
                  <a:lnTo>
                    <a:pt x="3776853" y="0"/>
                  </a:lnTo>
                  <a:lnTo>
                    <a:pt x="3776853" y="3776853"/>
                  </a:lnTo>
                  <a:lnTo>
                    <a:pt x="0" y="3776853"/>
                  </a:lnTo>
                  <a:lnTo>
                    <a:pt x="0" y="0"/>
                  </a:lnTo>
                  <a:close/>
                </a:path>
              </a:pathLst>
            </a:custGeom>
            <a:blipFill>
              <a:blip r:embed="rId3"/>
              <a:stretch>
                <a:fillRect/>
              </a:stretch>
            </a:blipFill>
          </p:spPr>
          <p:txBody>
            <a:bodyPr/>
            <a:lstStyle/>
            <a:p>
              <a:endParaRPr lang="en-US"/>
            </a:p>
          </p:txBody>
        </p:sp>
      </p:grpSp>
      <p:sp>
        <p:nvSpPr>
          <p:cNvPr id="4" name="Freeform 4"/>
          <p:cNvSpPr/>
          <p:nvPr/>
        </p:nvSpPr>
        <p:spPr>
          <a:xfrm>
            <a:off x="0" y="0"/>
            <a:ext cx="13066628" cy="10287000"/>
          </a:xfrm>
          <a:custGeom>
            <a:avLst/>
            <a:gdLst/>
            <a:ahLst/>
            <a:cxnLst/>
            <a:rect l="l" t="t" r="r" b="b"/>
            <a:pathLst>
              <a:path w="13066628" h="10287000">
                <a:moveTo>
                  <a:pt x="0" y="0"/>
                </a:moveTo>
                <a:lnTo>
                  <a:pt x="13066628" y="0"/>
                </a:lnTo>
                <a:lnTo>
                  <a:pt x="13066628" y="10287000"/>
                </a:lnTo>
                <a:lnTo>
                  <a:pt x="0" y="10287000"/>
                </a:lnTo>
                <a:lnTo>
                  <a:pt x="0" y="0"/>
                </a:lnTo>
                <a:close/>
              </a:path>
            </a:pathLst>
          </a:custGeom>
          <a:blipFill>
            <a:blip r:embed="rId4">
              <a:extLst>
                <a:ext uri="{96DAC541-7B7A-43D3-8B79-37D633B846F1}">
                  <asvg:svgBlip xmlns:asvg="http://schemas.microsoft.com/office/drawing/2016/SVG/main" r:embed="rId5"/>
                </a:ext>
              </a:extLst>
            </a:blip>
            <a:stretch>
              <a:fillRect t="-502" b="-502"/>
            </a:stretch>
          </a:blipFill>
        </p:spPr>
        <p:txBody>
          <a:bodyPr/>
          <a:lstStyle/>
          <a:p>
            <a:endParaRPr lang="en-US"/>
          </a:p>
        </p:txBody>
      </p:sp>
      <p:sp>
        <p:nvSpPr>
          <p:cNvPr id="5" name="TextBox 5"/>
          <p:cNvSpPr txBox="1"/>
          <p:nvPr/>
        </p:nvSpPr>
        <p:spPr>
          <a:xfrm>
            <a:off x="11658600" y="3467100"/>
            <a:ext cx="8115300" cy="1898651"/>
          </a:xfrm>
          <a:prstGeom prst="rect">
            <a:avLst/>
          </a:prstGeom>
        </p:spPr>
        <p:txBody>
          <a:bodyPr lIns="0" tIns="0" rIns="0" bIns="0" rtlCol="0" anchor="t">
            <a:spAutoFit/>
          </a:bodyPr>
          <a:lstStyle/>
          <a:p>
            <a:pPr algn="l">
              <a:lnSpc>
                <a:spcPts val="13998"/>
              </a:lnSpc>
            </a:pPr>
            <a:r>
              <a:rPr lang="en-US" sz="9999" b="1" i="1" dirty="0">
                <a:solidFill>
                  <a:srgbClr val="2D3880"/>
                </a:solidFill>
                <a:latin typeface="Cormorant Garamond Bold Italics"/>
                <a:ea typeface="Cormorant Garamond Bold Italics"/>
                <a:cs typeface="Cormorant Garamond Bold Italics"/>
                <a:sym typeface="Cormorant Garamond Bold Italics"/>
              </a:rPr>
              <a:t>Thank You</a:t>
            </a:r>
          </a:p>
        </p:txBody>
      </p:sp>
      <p:sp>
        <p:nvSpPr>
          <p:cNvPr id="6" name="TextBox 6"/>
          <p:cNvSpPr txBox="1"/>
          <p:nvPr/>
        </p:nvSpPr>
        <p:spPr>
          <a:xfrm>
            <a:off x="11658600" y="5232401"/>
            <a:ext cx="8115300" cy="539394"/>
          </a:xfrm>
          <a:prstGeom prst="rect">
            <a:avLst/>
          </a:prstGeom>
        </p:spPr>
        <p:txBody>
          <a:bodyPr lIns="0" tIns="0" rIns="0" bIns="0" rtlCol="0" anchor="t">
            <a:spAutoFit/>
          </a:bodyPr>
          <a:lstStyle/>
          <a:p>
            <a:pPr algn="l">
              <a:lnSpc>
                <a:spcPts val="4396"/>
              </a:lnSpc>
            </a:pPr>
            <a:r>
              <a:rPr lang="en-US" sz="3140" dirty="0">
                <a:solidFill>
                  <a:srgbClr val="2D3880"/>
                </a:solidFill>
                <a:latin typeface="Glacial Indifference"/>
                <a:ea typeface="Glacial Indifference"/>
                <a:cs typeface="Glacial Indifference"/>
                <a:sym typeface="Glacial Indifference"/>
              </a:rPr>
              <a:t>15th September 2025</a:t>
            </a:r>
          </a:p>
        </p:txBody>
      </p:sp>
      <p:sp>
        <p:nvSpPr>
          <p:cNvPr id="7" name="Rectangle: Rounded Corners 6">
            <a:extLst>
              <a:ext uri="{FF2B5EF4-FFF2-40B4-BE49-F238E27FC236}">
                <a16:creationId xmlns:a16="http://schemas.microsoft.com/office/drawing/2014/main" id="{8AE6026E-9445-9632-F2EB-28D7D579C741}"/>
              </a:ext>
            </a:extLst>
          </p:cNvPr>
          <p:cNvSpPr/>
          <p:nvPr/>
        </p:nvSpPr>
        <p:spPr>
          <a:xfrm>
            <a:off x="11811000" y="6185974"/>
            <a:ext cx="5105400" cy="1251032"/>
          </a:xfrm>
          <a:prstGeom prst="roundRect">
            <a:avLst/>
          </a:prstGeom>
          <a:solidFill>
            <a:srgbClr val="1C3D86"/>
          </a:solidFill>
          <a:ln>
            <a:noFill/>
          </a:ln>
          <a:effectLst>
            <a:glow rad="139700">
              <a:schemeClr val="accent1">
                <a:satMod val="175000"/>
                <a:alpha val="40000"/>
              </a:schemeClr>
            </a:glow>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bg1"/>
                </a:solidFill>
                <a:latin typeface="Glacial Indifference" panose="020B0604020202020204" charset="0"/>
                <a:hlinkClick r:id="rId6">
                  <a:extLst>
                    <a:ext uri="{A12FA001-AC4F-418D-AE19-62706E023703}">
                      <ahyp:hlinkClr xmlns:ahyp="http://schemas.microsoft.com/office/drawing/2018/hyperlinkcolor" val="tx"/>
                    </a:ext>
                  </a:extLst>
                </a:hlinkClick>
              </a:rPr>
              <a:t>Click here for Live Demo</a:t>
            </a:r>
            <a:endParaRPr lang="en-US" sz="3200" dirty="0">
              <a:solidFill>
                <a:schemeClr val="bg1"/>
              </a:solidFill>
              <a:latin typeface="Glacial Indifference" panose="020B060402020202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310</TotalTime>
  <Words>1465</Words>
  <Application>Microsoft Office PowerPoint</Application>
  <PresentationFormat>Custom</PresentationFormat>
  <Paragraphs>128</Paragraphs>
  <Slides>12</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Glacial Indifference</vt:lpstr>
      <vt:lpstr>Canva Sans Italics</vt:lpstr>
      <vt:lpstr>Cormorant Garamond Bold Italics</vt:lpstr>
      <vt:lpstr>Arial</vt:lpstr>
      <vt:lpstr>Calibri</vt:lpstr>
      <vt:lpstr>Canva Sans Bold</vt:lpstr>
      <vt:lpstr>Canva Sans</vt:lpstr>
      <vt:lpstr>Canva Sans Bold Italics</vt:lpstr>
      <vt:lpstr>Glacial Indifference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 Presentation-22717.pptx</dc:title>
  <cp:lastModifiedBy>EGTD Egodage</cp:lastModifiedBy>
  <cp:revision>19</cp:revision>
  <dcterms:created xsi:type="dcterms:W3CDTF">2006-08-16T00:00:00Z</dcterms:created>
  <dcterms:modified xsi:type="dcterms:W3CDTF">2025-09-15T02:59:50Z</dcterms:modified>
  <dc:identifier>DAGy9uyxMzU</dc:identifier>
</cp:coreProperties>
</file>